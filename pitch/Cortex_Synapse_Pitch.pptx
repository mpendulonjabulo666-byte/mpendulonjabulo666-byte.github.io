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Class of 2025</c:v>
                </c:pt>
              </c:strCache>
            </c:strRef>
          </c:tx>
          <c:spPr>
            <a:solidFill>
              <a:srgbClr val="E08A2E"/>
            </a:solidFill>
            <a:effectLst/>
          </c:spPr>
          <c:invertIfNegative val="0"/>
          <c:dLbls>
            <c:numFmt formatCode="0.0&quot;%&quot;" sourceLinked="0"/>
            <c:txPr>
              <a:bodyPr/>
              <a:lstStyle/>
              <a:p>
                <a:pPr>
                  <a:defRPr b="1" i="0" strike="noStrike" sz="1400" u="none">
                    <a:solidFill>
                      <a:srgbClr val="2A1310"/>
                    </a:solidFill>
                    <a:latin typeface="Bookman Old Style"/>
                  </a:defRPr>
                </a:pPr>
              </a:p>
            </c:txPr>
            <c:showLegendKey val="0"/>
            <c:showVal val="1"/>
            <c:showCatName val="0"/>
            <c:showSerName val="0"/>
            <c:showPercent val="0"/>
            <c:showBubbleSize val="0"/>
            <c:showLeaderLines val="0"/>
          </c:dLbls>
          <c:dPt>
            <c:idx val="0"/>
            <c:invertIfNegative val="0"/>
            <c:bubble3D val="0"/>
            <c:spPr>
              <a:solidFill>
                <a:srgbClr val="E08A2E"/>
              </a:solidFill>
              <a:effectLst/>
            </c:spPr>
          </c:dPt>
          <c:dPt>
            <c:idx val="1"/>
            <c:invertIfNegative val="0"/>
            <c:bubble3D val="0"/>
            <c:spPr>
              <a:solidFill>
                <a:srgbClr val="A8552A"/>
              </a:solidFill>
              <a:effectLst/>
            </c:spPr>
          </c:dPt>
          <c:dPt>
            <c:idx val="2"/>
            <c:invertIfNegative val="0"/>
            <c:bubble3D val="0"/>
            <c:spPr>
              <a:solidFill>
                <a:srgbClr val="8A3E22"/>
              </a:solidFill>
              <a:effectLst/>
            </c:spPr>
          </c:dPt>
          <c:dPt>
            <c:idx val="3"/>
            <c:invertIfNegative val="0"/>
            <c:bubble3D val="0"/>
            <c:spPr>
              <a:solidFill>
                <a:srgbClr val="5C231C"/>
              </a:solidFill>
              <a:effectLst/>
            </c:spPr>
          </c:dPt>
          <c:cat>
            <c:multiLvlStrRef>
              <c:f>Sheet1!$A$2:$A$5</c:f>
              <c:multiLvlStrCache>
                <c:ptCount val="4"/>
                <c:lvl>
                  <c:pt idx="0">
                    <c:v>Headline pass rate</c:v>
                  </c:pt>
                  <c:pt idx="1">
                    <c:v>Mathematics pass rate</c:v>
                  </c:pt>
                  <c:pt idx="2">
                    <c:v>Reached matric from Grade 1</c:v>
                  </c:pt>
                  <c:pt idx="3">
                    <c:v>Even wrote Mathematics</c:v>
                  </c:pt>
                </c:lvl>
              </c:multiLvlStrCache>
            </c:multiLvlStrRef>
          </c:cat>
          <c:val>
            <c:numRef>
              <c:f>Sheet1!$B$2:$B$5</c:f>
              <c:numCache>
                <c:formatCode>General</c:formatCode>
                <c:ptCount val="4"/>
                <c:pt idx="0">
                  <c:v>88</c:v>
                </c:pt>
                <c:pt idx="1">
                  <c:v>64</c:v>
                </c:pt>
                <c:pt idx="2">
                  <c:v>54.7</c:v>
                </c:pt>
                <c:pt idx="3">
                  <c:v>34</c:v>
                </c:pt>
              </c:numCache>
            </c:numRef>
          </c:val>
        </c:ser>
        <c:dLbls>
          <c:numFmt formatCode="0.0&quot;%&quot;" sourceLinked="0"/>
          <c:txPr>
            <a:bodyPr/>
            <a:lstStyle/>
            <a:p>
              <a:pPr>
                <a:defRPr b="1" i="0" strike="noStrike" sz="1400" u="none">
                  <a:solidFill>
                    <a:srgbClr val="2A1310"/>
                  </a:solidFill>
                  <a:latin typeface="Bookman Old Style"/>
                </a:defRPr>
              </a:pPr>
            </a:p>
          </c:txPr>
          <c:showLegendKey val="0"/>
          <c:showVal val="1"/>
          <c:showCatName val="0"/>
          <c:showSerName val="0"/>
          <c:showPercent val="0"/>
          <c:showBubbleSize val="0"/>
          <c:showLeaderLines val="0"/>
        </c:dLbls>
        <c:gapWidth val="42"/>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50" b="0" i="0" u="none" strike="noStrike">
                <a:solidFill>
                  <a:srgbClr val="2A1310"/>
                </a:solidFill>
                <a:latin typeface="Calibri"/>
              </a:defRPr>
            </a:pPr>
            <a:endParaRPr lang="en-US"/>
          </a:p>
        </c:txPr>
        <c:crossAx val="2094734552"/>
        <c:crosses val="autoZero"/>
        <c:auto val="1"/>
        <c:lblAlgn val="ctr"/>
        <c:noMultiLvlLbl val="1"/>
      </c:catAx>
      <c:valAx>
        <c:axId val="2094734552"/>
        <c:scaling>
          <c:orientation val="minMax"/>
          <c:max val="1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My name is Mpendulo Njabulo, and this is Cortex Synapse. Let me start with a number this country celebrated in January.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Eighty-eight percent. A record matric pass rate. But it counts only the learners who reached the exam desk.
Measure the same class from the day they started Grade One and it is closer to fifty-five percent. Only one in three even wrote mathematics. And the fix that works — a tutor at four hundred and fifty rand an hour — cannot be bought by the learners who need it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are getting better at producing passes. We are not getting better at producing understanding. A thirty percent is a pass — it is not a mark that carries a learner into a degree or a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Cortex Synapse is a home-grown AI study companion. A learner drops in a topic, their notes, or a YouTube link, and gets notes aligned to CAPS and NATED, with maths in the notation the exam uses.
It then builds quizzes and flashcards from those notes, so they practise recall instead of re-reading, and the topics they get wrong come back. It is patient at two in the morning, and never makes a learner feel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concept. This is the product — every CAPS subject a Grade 10 to 12 learner writes, and the NATED subjects for TVET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Khan Academy is excellent — and it is American. A private tutor is ours, and costs a family thousands a month. We are South African, affordable, and awake whenever the learner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hundred thousand matric candidates a year. Thirteen million learners in basic education. Half a million TVET students with no digital support. We start at Majuba, because that is where I can prove it fastest.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stays free, permanently. Families who can pay take a low monthly subscription — one tutoring hour, for a whole year. Colleges licence seats per learner, and CSI partners sponsor no-fee schools. Two thousand paying learners covers our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learner in a school with no laboratory gets the same explanation as one in a private school. Fear drops, because by exam day they have already answered the question fifty times. Nothing is printed. Nothing is driven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team is me — building this out of the same classrooms it is built for — and Tony on infrastructure. We are asking for funding for our first year, and access to pilot in schools. One campus, one term, and we bring you the marks.
Because this was never about money. It is about a learner who understands, and is not afraid to write. The better the education, the better the South Africa that comes after us.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3-image-1.jpe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571232" y="1481328"/>
            <a:ext cx="3913632" cy="3913632"/>
          </a:xfrm>
          <a:prstGeom prst="roundRect">
            <a:avLst>
              <a:gd name="adj" fmla="val 4673"/>
            </a:avLst>
          </a:prstGeom>
          <a:solidFill>
            <a:srgbClr val="FDF1D8"/>
          </a:solidFill>
          <a:ln/>
          <a:effectLst>
            <a:outerShdw sx="100000" sy="100000" kx="0" ky="0" algn="bl" rotWithShape="0" blurRad="330200" dist="63500" dir="5400000">
              <a:srgbClr val="000000">
                <a:alpha val="45000"/>
              </a:srgbClr>
            </a:outerShdw>
          </a:effectLst>
        </p:spPr>
      </p:sp>
      <p:pic>
        <p:nvPicPr>
          <p:cNvPr id="3" name="Image 0" descr="assets/logo.png">    </p:cNvPr>
          <p:cNvPicPr>
            <a:picLocks noChangeAspect="1"/>
          </p:cNvPicPr>
          <p:nvPr/>
        </p:nvPicPr>
        <p:blipFill>
          <a:blip r:embed="rId2"/>
          <a:stretch>
            <a:fillRect/>
          </a:stretch>
        </p:blipFill>
        <p:spPr>
          <a:xfrm>
            <a:off x="7699248" y="1609344"/>
            <a:ext cx="3657600" cy="3657600"/>
          </a:xfrm>
          <a:prstGeom prst="rect">
            <a:avLst/>
          </a:prstGeom>
        </p:spPr>
      </p:pic>
      <p:sp>
        <p:nvSpPr>
          <p:cNvPr id="4" name="Text 1"/>
          <p:cNvSpPr/>
          <p:nvPr/>
        </p:nvSpPr>
        <p:spPr>
          <a:xfrm>
            <a:off x="777240" y="1371600"/>
            <a:ext cx="6400800" cy="310896"/>
          </a:xfrm>
          <a:prstGeom prst="rect">
            <a:avLst/>
          </a:prstGeom>
          <a:noFill/>
          <a:ln/>
        </p:spPr>
        <p:txBody>
          <a:bodyPr wrap="square" lIns="0" tIns="0" rIns="0" bIns="0" rtlCol="0" anchor="t"/>
          <a:lstStyle/>
          <a:p>
            <a:pPr indent="0" marL="0">
              <a:buNone/>
            </a:pPr>
            <a:r>
              <a:rPr lang="en-US" sz="1150" b="1" spc="240" kern="0" dirty="0">
                <a:solidFill>
                  <a:srgbClr val="E08A2E"/>
                </a:solidFill>
                <a:latin typeface="Calibri" pitchFamily="34" charset="0"/>
                <a:ea typeface="Calibri" pitchFamily="34" charset="-122"/>
                <a:cs typeface="Calibri" pitchFamily="34" charset="-120"/>
              </a:rPr>
              <a:t>INSPIRE INTERCOLLEGE  ·  MAJUBA TVET INTERNAL ROUND</a:t>
            </a:r>
            <a:endParaRPr lang="en-US" sz="1150" dirty="0"/>
          </a:p>
        </p:txBody>
      </p:sp>
      <p:sp>
        <p:nvSpPr>
          <p:cNvPr id="5" name="Text 2"/>
          <p:cNvSpPr/>
          <p:nvPr/>
        </p:nvSpPr>
        <p:spPr>
          <a:xfrm>
            <a:off x="731520" y="1773936"/>
            <a:ext cx="6675120" cy="960120"/>
          </a:xfrm>
          <a:prstGeom prst="rect">
            <a:avLst/>
          </a:prstGeom>
          <a:noFill/>
          <a:ln/>
        </p:spPr>
        <p:txBody>
          <a:bodyPr wrap="square" lIns="0" tIns="0" rIns="0" bIns="0" rtlCol="0" anchor="ctr"/>
          <a:lstStyle/>
          <a:p>
            <a:pPr indent="0" marL="0">
              <a:buNone/>
            </a:pPr>
            <a:r>
              <a:rPr lang="en-US" sz="5000" b="1" dirty="0">
                <a:solidFill>
                  <a:srgbClr val="F6EBD8"/>
                </a:solidFill>
                <a:latin typeface="Bookman Old Style" pitchFamily="34" charset="0"/>
                <a:ea typeface="Bookman Old Style" pitchFamily="34" charset="-122"/>
                <a:cs typeface="Bookman Old Style" pitchFamily="34" charset="-120"/>
              </a:rPr>
              <a:t>Cortex Synapse</a:t>
            </a:r>
            <a:endParaRPr lang="en-US" sz="5000" dirty="0"/>
          </a:p>
        </p:txBody>
      </p:sp>
      <p:sp>
        <p:nvSpPr>
          <p:cNvPr id="6" name="Text 3"/>
          <p:cNvSpPr/>
          <p:nvPr/>
        </p:nvSpPr>
        <p:spPr>
          <a:xfrm>
            <a:off x="777240" y="2852928"/>
            <a:ext cx="6309360" cy="1371600"/>
          </a:xfrm>
          <a:prstGeom prst="rect">
            <a:avLst/>
          </a:prstGeom>
          <a:noFill/>
          <a:ln/>
        </p:spPr>
        <p:txBody>
          <a:bodyPr wrap="square" lIns="0" tIns="0" rIns="0" bIns="0" rtlCol="0" anchor="t"/>
          <a:lstStyle/>
          <a:p>
            <a:pPr indent="0" marL="0">
              <a:lnSpc>
                <a:spcPts val="2600"/>
              </a:lnSpc>
              <a:buNone/>
            </a:pPr>
            <a:r>
              <a:rPr lang="en-US" sz="1650" dirty="0">
                <a:solidFill>
                  <a:srgbClr val="D5BCA6"/>
                </a:solidFill>
                <a:latin typeface="Calibri" pitchFamily="34" charset="0"/>
                <a:ea typeface="Calibri" pitchFamily="34" charset="-122"/>
                <a:cs typeface="Calibri" pitchFamily="34" charset="-120"/>
              </a:rPr>
              <a:t>A South African AI study companion — so that every learner, from every background, walks into an exam room understanding the work instead of fearing it.</a:t>
            </a:r>
            <a:endParaRPr lang="en-US" sz="1650" dirty="0"/>
          </a:p>
        </p:txBody>
      </p:sp>
      <p:sp>
        <p:nvSpPr>
          <p:cNvPr id="7" name="Shape 4"/>
          <p:cNvSpPr/>
          <p:nvPr/>
        </p:nvSpPr>
        <p:spPr>
          <a:xfrm>
            <a:off x="777240" y="4443984"/>
            <a:ext cx="2788920" cy="512064"/>
          </a:xfrm>
          <a:prstGeom prst="roundRect">
            <a:avLst>
              <a:gd name="adj" fmla="val 50000"/>
            </a:avLst>
          </a:prstGeom>
          <a:solidFill>
            <a:srgbClr val="E08A2E"/>
          </a:solidFill>
          <a:ln/>
        </p:spPr>
      </p:sp>
      <p:sp>
        <p:nvSpPr>
          <p:cNvPr id="8" name="Text 5"/>
          <p:cNvSpPr/>
          <p:nvPr/>
        </p:nvSpPr>
        <p:spPr>
          <a:xfrm>
            <a:off x="777240" y="4443984"/>
            <a:ext cx="2788920" cy="512064"/>
          </a:xfrm>
          <a:prstGeom prst="rect">
            <a:avLst/>
          </a:prstGeom>
          <a:noFill/>
          <a:ln/>
        </p:spPr>
        <p:txBody>
          <a:bodyPr wrap="square" lIns="0" tIns="0" rIns="0" bIns="0" rtlCol="0" anchor="ctr"/>
          <a:lstStyle/>
          <a:p>
            <a:pPr algn="ctr" indent="0" marL="0">
              <a:buNone/>
            </a:pPr>
            <a:r>
              <a:rPr lang="en-US" sz="1200" b="1" spc="220" kern="0" dirty="0">
                <a:solidFill>
                  <a:srgbClr val="3A1808"/>
                </a:solidFill>
                <a:latin typeface="Calibri" pitchFamily="34" charset="0"/>
                <a:ea typeface="Calibri" pitchFamily="34" charset="-122"/>
                <a:cs typeface="Calibri" pitchFamily="34" charset="-120"/>
              </a:rPr>
              <a:t>LEARN DEEPER</a:t>
            </a:r>
            <a:endParaRPr lang="en-US" sz="1200" dirty="0"/>
          </a:p>
        </p:txBody>
      </p:sp>
      <p:sp>
        <p:nvSpPr>
          <p:cNvPr id="9" name="Text 6"/>
          <p:cNvSpPr/>
          <p:nvPr/>
        </p:nvSpPr>
        <p:spPr>
          <a:xfrm>
            <a:off x="777240" y="5230368"/>
            <a:ext cx="6400800" cy="365760"/>
          </a:xfrm>
          <a:prstGeom prst="rect">
            <a:avLst/>
          </a:prstGeom>
          <a:noFill/>
          <a:ln/>
        </p:spPr>
        <p:txBody>
          <a:bodyPr wrap="square" lIns="0" tIns="0" rIns="0" bIns="0" rtlCol="0" anchor="t"/>
          <a:lstStyle/>
          <a:p>
            <a:pPr indent="0" marL="0">
              <a:buNone/>
            </a:pPr>
            <a:r>
              <a:rPr lang="en-US" sz="1350" dirty="0">
                <a:solidFill>
                  <a:srgbClr val="D5BCA6"/>
                </a:solidFill>
                <a:latin typeface="Calibri" pitchFamily="34" charset="0"/>
                <a:ea typeface="Calibri" pitchFamily="34" charset="-122"/>
                <a:cs typeface="Calibri" pitchFamily="34" charset="-120"/>
              </a:rPr>
              <a:t>Mpendulo Njabulo — Founder   ·   Tony — Infrastructure</a:t>
            </a:r>
            <a:endParaRPr lang="en-US" sz="1350" dirty="0"/>
          </a:p>
        </p:txBody>
      </p:sp>
    </p:spTree>
  </p:cSld>
  <p:clrMapOvr>
    <a:masterClrMapping/>
  </p:clrMapOvr>
  <mc:AlternateContent xmlns:mc="http://schemas.openxmlformats.org/markup-compatibility/2006">
    <mc:Choice xmlns:p14="http://schemas.microsoft.com/office/powerpoint/2010/main" Requires="p14">
      <p:transition spd="slow" p14:dur="800" advClick="1">
        <p:fade/>
      </p:transition>
    </mc:Choice>
    <mc:Fallback>
      <p:transition spd="slow" advClick="1">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58368" y="384048"/>
            <a:ext cx="10881360" cy="713232"/>
          </a:xfrm>
          <a:prstGeom prst="rect">
            <a:avLst/>
          </a:prstGeom>
          <a:noFill/>
          <a:ln/>
        </p:spPr>
        <p:txBody>
          <a:bodyPr wrap="square" lIns="0" tIns="0" rIns="0" bIns="0" rtlCol="0" anchor="ctr"/>
          <a:lstStyle/>
          <a:p>
            <a:pPr indent="0" marL="0">
              <a:buNone/>
            </a:pPr>
            <a:r>
              <a:rPr lang="en-US" sz="3300" b="1" dirty="0">
                <a:solidFill>
                  <a:srgbClr val="F6EBD8"/>
                </a:solidFill>
                <a:latin typeface="Bookman Old Style" pitchFamily="34" charset="0"/>
                <a:ea typeface="Bookman Old Style" pitchFamily="34" charset="-122"/>
                <a:cs typeface="Bookman Old Style" pitchFamily="34" charset="-120"/>
              </a:rPr>
              <a:t>The size of the problem</a:t>
            </a:r>
            <a:endParaRPr lang="en-US" sz="3300" dirty="0"/>
          </a:p>
        </p:txBody>
      </p:sp>
      <p:sp>
        <p:nvSpPr>
          <p:cNvPr id="3" name="Text 1"/>
          <p:cNvSpPr/>
          <p:nvPr/>
        </p:nvSpPr>
        <p:spPr>
          <a:xfrm>
            <a:off x="658368" y="1371600"/>
            <a:ext cx="4114800" cy="1691640"/>
          </a:xfrm>
          <a:prstGeom prst="rect">
            <a:avLst/>
          </a:prstGeom>
          <a:noFill/>
          <a:ln/>
        </p:spPr>
        <p:txBody>
          <a:bodyPr wrap="square" lIns="0" tIns="0" rIns="0" bIns="0" rtlCol="0" anchor="ctr"/>
          <a:lstStyle/>
          <a:p>
            <a:pPr indent="0" marL="0">
              <a:buNone/>
            </a:pPr>
            <a:r>
              <a:rPr lang="en-US" sz="9600" b="1" dirty="0">
                <a:solidFill>
                  <a:srgbClr val="E08A2E"/>
                </a:solidFill>
                <a:latin typeface="Bookman Old Style" pitchFamily="34" charset="0"/>
                <a:ea typeface="Bookman Old Style" pitchFamily="34" charset="-122"/>
                <a:cs typeface="Bookman Old Style" pitchFamily="34" charset="-120"/>
              </a:rPr>
              <a:t>88%</a:t>
            </a:r>
            <a:endParaRPr lang="en-US" sz="9600" dirty="0"/>
          </a:p>
        </p:txBody>
      </p:sp>
      <p:sp>
        <p:nvSpPr>
          <p:cNvPr id="4" name="Text 2"/>
          <p:cNvSpPr/>
          <p:nvPr/>
        </p:nvSpPr>
        <p:spPr>
          <a:xfrm>
            <a:off x="685800" y="3127248"/>
            <a:ext cx="3977640" cy="731520"/>
          </a:xfrm>
          <a:prstGeom prst="rect">
            <a:avLst/>
          </a:prstGeom>
          <a:noFill/>
          <a:ln/>
        </p:spPr>
        <p:txBody>
          <a:bodyPr wrap="square" lIns="0" tIns="0" rIns="0" bIns="0" rtlCol="0" anchor="t"/>
          <a:lstStyle/>
          <a:p>
            <a:pPr indent="0" marL="0">
              <a:lnSpc>
                <a:spcPts val="2200"/>
              </a:lnSpc>
              <a:buNone/>
            </a:pPr>
            <a:r>
              <a:rPr lang="en-US" sz="1550" b="1" dirty="0">
                <a:solidFill>
                  <a:srgbClr val="F6EBD8"/>
                </a:solidFill>
                <a:latin typeface="Calibri" pitchFamily="34" charset="0"/>
                <a:ea typeface="Calibri" pitchFamily="34" charset="-122"/>
                <a:cs typeface="Calibri" pitchFamily="34" charset="-120"/>
              </a:rPr>
              <a:t>The 2025 matric pass rate — the highest in our history.</a:t>
            </a:r>
            <a:endParaRPr lang="en-US" sz="1550" dirty="0"/>
          </a:p>
        </p:txBody>
      </p:sp>
      <p:sp>
        <p:nvSpPr>
          <p:cNvPr id="5" name="Text 3"/>
          <p:cNvSpPr/>
          <p:nvPr/>
        </p:nvSpPr>
        <p:spPr>
          <a:xfrm>
            <a:off x="685800" y="3877056"/>
            <a:ext cx="3977640" cy="822960"/>
          </a:xfrm>
          <a:prstGeom prst="rect">
            <a:avLst/>
          </a:prstGeom>
          <a:noFill/>
          <a:ln/>
        </p:spPr>
        <p:txBody>
          <a:bodyPr wrap="square" lIns="0" tIns="0" rIns="0" bIns="0" rtlCol="0" anchor="t"/>
          <a:lstStyle/>
          <a:p>
            <a:pPr indent="0" marL="0">
              <a:lnSpc>
                <a:spcPts val="2100"/>
              </a:lnSpc>
              <a:buNone/>
            </a:pPr>
            <a:r>
              <a:rPr lang="en-US" sz="1400" dirty="0">
                <a:solidFill>
                  <a:srgbClr val="D5BCA6"/>
                </a:solidFill>
                <a:latin typeface="Calibri" pitchFamily="34" charset="0"/>
                <a:ea typeface="Calibri" pitchFamily="34" charset="-122"/>
                <a:cs typeface="Calibri" pitchFamily="34" charset="-120"/>
              </a:rPr>
              <a:t>It is also the number that hides the problem I am here to solve.</a:t>
            </a:r>
            <a:endParaRPr lang="en-US" sz="1400" dirty="0"/>
          </a:p>
        </p:txBody>
      </p:sp>
      <p:sp>
        <p:nvSpPr>
          <p:cNvPr id="6" name="Text 4"/>
          <p:cNvSpPr/>
          <p:nvPr/>
        </p:nvSpPr>
        <p:spPr>
          <a:xfrm>
            <a:off x="685800" y="5650992"/>
            <a:ext cx="4023360" cy="548640"/>
          </a:xfrm>
          <a:prstGeom prst="rect">
            <a:avLst/>
          </a:prstGeom>
          <a:noFill/>
          <a:ln/>
        </p:spPr>
        <p:txBody>
          <a:bodyPr wrap="square" lIns="0" tIns="0" rIns="0" bIns="0" rtlCol="0" anchor="t"/>
          <a:lstStyle/>
          <a:p>
            <a:pPr indent="0" marL="0">
              <a:lnSpc>
                <a:spcPts val="1300"/>
              </a:lnSpc>
              <a:buNone/>
            </a:pPr>
            <a:r>
              <a:rPr lang="en-US" sz="950" i="1" dirty="0">
                <a:solidFill>
                  <a:srgbClr val="A98A72"/>
                </a:solidFill>
                <a:latin typeface="Calibri" pitchFamily="34" charset="0"/>
                <a:ea typeface="Calibri" pitchFamily="34" charset="-122"/>
                <a:cs typeface="Calibri" pitchFamily="34" charset="-120"/>
              </a:rPr>
              <a:t>Sources: DBE NSC announcement, Jan 2026; published cohort analyses.</a:t>
            </a:r>
            <a:endParaRPr lang="en-US" sz="950" dirty="0"/>
          </a:p>
        </p:txBody>
      </p:sp>
      <p:sp>
        <p:nvSpPr>
          <p:cNvPr id="7" name="Shape 5"/>
          <p:cNvSpPr/>
          <p:nvPr/>
        </p:nvSpPr>
        <p:spPr>
          <a:xfrm>
            <a:off x="5138928" y="1316736"/>
            <a:ext cx="3072384" cy="2212848"/>
          </a:xfrm>
          <a:prstGeom prst="roundRect">
            <a:avLst>
              <a:gd name="adj" fmla="val 5785"/>
            </a:avLst>
          </a:prstGeom>
          <a:solidFill>
            <a:srgbClr val="FFFFFF">
              <a:alpha val="9000"/>
            </a:srgbClr>
          </a:solidFill>
          <a:ln w="9525">
            <a:solidFill>
              <a:srgbClr val="FFFFFF">
                <a:alpha val="22000"/>
              </a:srgbClr>
            </a:solidFill>
            <a:prstDash val="solid"/>
          </a:ln>
        </p:spPr>
      </p:sp>
      <p:sp>
        <p:nvSpPr>
          <p:cNvPr id="8" name="Text 6"/>
          <p:cNvSpPr/>
          <p:nvPr/>
        </p:nvSpPr>
        <p:spPr>
          <a:xfrm>
            <a:off x="5394960" y="1481328"/>
            <a:ext cx="2615184" cy="621792"/>
          </a:xfrm>
          <a:prstGeom prst="rect">
            <a:avLst/>
          </a:prstGeom>
          <a:noFill/>
          <a:ln/>
        </p:spPr>
        <p:txBody>
          <a:bodyPr wrap="square" lIns="0" tIns="0" rIns="0" bIns="0" rtlCol="0" anchor="ctr"/>
          <a:lstStyle/>
          <a:p>
            <a:pPr indent="0" marL="0">
              <a:buNone/>
            </a:pPr>
            <a:r>
              <a:rPr lang="en-US" sz="3300" b="1" dirty="0">
                <a:solidFill>
                  <a:srgbClr val="E08A2E"/>
                </a:solidFill>
                <a:latin typeface="Bookman Old Style" pitchFamily="34" charset="0"/>
                <a:ea typeface="Bookman Old Style" pitchFamily="34" charset="-122"/>
                <a:cs typeface="Bookman Old Style" pitchFamily="34" charset="-120"/>
              </a:rPr>
              <a:t>54.7%</a:t>
            </a:r>
            <a:endParaRPr lang="en-US" sz="3300" dirty="0"/>
          </a:p>
        </p:txBody>
      </p:sp>
      <p:sp>
        <p:nvSpPr>
          <p:cNvPr id="9" name="Text 7"/>
          <p:cNvSpPr/>
          <p:nvPr/>
        </p:nvSpPr>
        <p:spPr>
          <a:xfrm>
            <a:off x="5394960" y="2139696"/>
            <a:ext cx="2560320" cy="1243584"/>
          </a:xfrm>
          <a:prstGeom prst="rect">
            <a:avLst/>
          </a:prstGeom>
          <a:noFill/>
          <a:ln/>
        </p:spPr>
        <p:txBody>
          <a:bodyPr wrap="square" lIns="0" tIns="0" rIns="0" bIns="0" rtlCol="0" anchor="t"/>
          <a:lstStyle/>
          <a:p>
            <a:pPr indent="0" marL="0">
              <a:lnSpc>
                <a:spcPts val="1700"/>
              </a:lnSpc>
              <a:buNone/>
            </a:pPr>
            <a:r>
              <a:rPr lang="en-US" sz="1150" dirty="0">
                <a:solidFill>
                  <a:srgbClr val="D5BCA6"/>
                </a:solidFill>
                <a:latin typeface="Calibri" pitchFamily="34" charset="0"/>
                <a:ea typeface="Calibri" pitchFamily="34" charset="-122"/>
                <a:cs typeface="Calibri" pitchFamily="34" charset="-120"/>
              </a:rPr>
              <a:t>of the learners who started Grade 1 together actually finish with a matric. The headline rate counts only those who reach the exam desk.</a:t>
            </a:r>
            <a:endParaRPr lang="en-US" sz="1150" dirty="0"/>
          </a:p>
        </p:txBody>
      </p:sp>
      <p:sp>
        <p:nvSpPr>
          <p:cNvPr id="10" name="Shape 8"/>
          <p:cNvSpPr/>
          <p:nvPr/>
        </p:nvSpPr>
        <p:spPr>
          <a:xfrm>
            <a:off x="8467344" y="1316736"/>
            <a:ext cx="3072384" cy="2212848"/>
          </a:xfrm>
          <a:prstGeom prst="roundRect">
            <a:avLst>
              <a:gd name="adj" fmla="val 5785"/>
            </a:avLst>
          </a:prstGeom>
          <a:solidFill>
            <a:srgbClr val="FFFFFF">
              <a:alpha val="9000"/>
            </a:srgbClr>
          </a:solidFill>
          <a:ln w="9525">
            <a:solidFill>
              <a:srgbClr val="FFFFFF">
                <a:alpha val="22000"/>
              </a:srgbClr>
            </a:solidFill>
            <a:prstDash val="solid"/>
          </a:ln>
        </p:spPr>
      </p:sp>
      <p:sp>
        <p:nvSpPr>
          <p:cNvPr id="11" name="Text 9"/>
          <p:cNvSpPr/>
          <p:nvPr/>
        </p:nvSpPr>
        <p:spPr>
          <a:xfrm>
            <a:off x="8723376" y="1481328"/>
            <a:ext cx="2615184" cy="621792"/>
          </a:xfrm>
          <a:prstGeom prst="rect">
            <a:avLst/>
          </a:prstGeom>
          <a:noFill/>
          <a:ln/>
        </p:spPr>
        <p:txBody>
          <a:bodyPr wrap="square" lIns="0" tIns="0" rIns="0" bIns="0" rtlCol="0" anchor="ctr"/>
          <a:lstStyle/>
          <a:p>
            <a:pPr indent="0" marL="0">
              <a:buNone/>
            </a:pPr>
            <a:r>
              <a:rPr lang="en-US" sz="3300" b="1" dirty="0">
                <a:solidFill>
                  <a:srgbClr val="E08A2E"/>
                </a:solidFill>
                <a:latin typeface="Bookman Old Style" pitchFamily="34" charset="0"/>
                <a:ea typeface="Bookman Old Style" pitchFamily="34" charset="-122"/>
                <a:cs typeface="Bookman Old Style" pitchFamily="34" charset="-120"/>
              </a:rPr>
              <a:t>34%</a:t>
            </a:r>
            <a:endParaRPr lang="en-US" sz="3300" dirty="0"/>
          </a:p>
        </p:txBody>
      </p:sp>
      <p:sp>
        <p:nvSpPr>
          <p:cNvPr id="12" name="Text 10"/>
          <p:cNvSpPr/>
          <p:nvPr/>
        </p:nvSpPr>
        <p:spPr>
          <a:xfrm>
            <a:off x="8723376" y="2139696"/>
            <a:ext cx="2560320" cy="1243584"/>
          </a:xfrm>
          <a:prstGeom prst="rect">
            <a:avLst/>
          </a:prstGeom>
          <a:noFill/>
          <a:ln/>
        </p:spPr>
        <p:txBody>
          <a:bodyPr wrap="square" lIns="0" tIns="0" rIns="0" bIns="0" rtlCol="0" anchor="t"/>
          <a:lstStyle/>
          <a:p>
            <a:pPr indent="0" marL="0">
              <a:lnSpc>
                <a:spcPts val="1700"/>
              </a:lnSpc>
              <a:buNone/>
            </a:pPr>
            <a:r>
              <a:rPr lang="en-US" sz="1150" dirty="0">
                <a:solidFill>
                  <a:srgbClr val="D5BCA6"/>
                </a:solidFill>
                <a:latin typeface="Calibri" pitchFamily="34" charset="0"/>
                <a:ea typeface="Calibri" pitchFamily="34" charset="-122"/>
                <a:cs typeface="Calibri" pitchFamily="34" charset="-120"/>
              </a:rPr>
              <a:t>of candidates even wrote Mathematics in 2025 — and the maths pass rate fell from 69% to 64% in a single year.</a:t>
            </a:r>
            <a:endParaRPr lang="en-US" sz="1150" dirty="0"/>
          </a:p>
        </p:txBody>
      </p:sp>
      <p:sp>
        <p:nvSpPr>
          <p:cNvPr id="13" name="Shape 11"/>
          <p:cNvSpPr/>
          <p:nvPr/>
        </p:nvSpPr>
        <p:spPr>
          <a:xfrm>
            <a:off x="5138928" y="3822192"/>
            <a:ext cx="3072384" cy="2212848"/>
          </a:xfrm>
          <a:prstGeom prst="roundRect">
            <a:avLst>
              <a:gd name="adj" fmla="val 5785"/>
            </a:avLst>
          </a:prstGeom>
          <a:solidFill>
            <a:srgbClr val="FFFFFF">
              <a:alpha val="9000"/>
            </a:srgbClr>
          </a:solidFill>
          <a:ln w="9525">
            <a:solidFill>
              <a:srgbClr val="FFFFFF">
                <a:alpha val="22000"/>
              </a:srgbClr>
            </a:solidFill>
            <a:prstDash val="solid"/>
          </a:ln>
        </p:spPr>
      </p:sp>
      <p:sp>
        <p:nvSpPr>
          <p:cNvPr id="14" name="Text 12"/>
          <p:cNvSpPr/>
          <p:nvPr/>
        </p:nvSpPr>
        <p:spPr>
          <a:xfrm>
            <a:off x="5394960" y="3986784"/>
            <a:ext cx="2615184" cy="621792"/>
          </a:xfrm>
          <a:prstGeom prst="rect">
            <a:avLst/>
          </a:prstGeom>
          <a:noFill/>
          <a:ln/>
        </p:spPr>
        <p:txBody>
          <a:bodyPr wrap="square" lIns="0" tIns="0" rIns="0" bIns="0" rtlCol="0" anchor="ctr"/>
          <a:lstStyle/>
          <a:p>
            <a:pPr indent="0" marL="0">
              <a:buNone/>
            </a:pPr>
            <a:r>
              <a:rPr lang="en-US" sz="3300" b="1" dirty="0">
                <a:solidFill>
                  <a:srgbClr val="E08A2E"/>
                </a:solidFill>
                <a:latin typeface="Bookman Old Style" pitchFamily="34" charset="0"/>
                <a:ea typeface="Bookman Old Style" pitchFamily="34" charset="-122"/>
                <a:cs typeface="Bookman Old Style" pitchFamily="34" charset="-120"/>
              </a:rPr>
              <a:t>83%</a:t>
            </a:r>
            <a:endParaRPr lang="en-US" sz="3300" dirty="0"/>
          </a:p>
        </p:txBody>
      </p:sp>
      <p:sp>
        <p:nvSpPr>
          <p:cNvPr id="15" name="Text 13"/>
          <p:cNvSpPr/>
          <p:nvPr/>
        </p:nvSpPr>
        <p:spPr>
          <a:xfrm>
            <a:off x="5394960" y="4645152"/>
            <a:ext cx="2560320" cy="1243584"/>
          </a:xfrm>
          <a:prstGeom prst="rect">
            <a:avLst/>
          </a:prstGeom>
          <a:noFill/>
          <a:ln/>
        </p:spPr>
        <p:txBody>
          <a:bodyPr wrap="square" lIns="0" tIns="0" rIns="0" bIns="0" rtlCol="0" anchor="t"/>
          <a:lstStyle/>
          <a:p>
            <a:pPr indent="0" marL="0">
              <a:lnSpc>
                <a:spcPts val="1700"/>
              </a:lnSpc>
              <a:buNone/>
            </a:pPr>
            <a:r>
              <a:rPr lang="en-US" sz="1150" dirty="0">
                <a:solidFill>
                  <a:srgbClr val="D5BCA6"/>
                </a:solidFill>
                <a:latin typeface="Calibri" pitchFamily="34" charset="0"/>
                <a:ea typeface="Calibri" pitchFamily="34" charset="-122"/>
                <a:cs typeface="Calibri" pitchFamily="34" charset="-120"/>
              </a:rPr>
              <a:t>of South African schools have no laboratory, and 74% have no library. Township and rural learners study without what the exam assumes.</a:t>
            </a:r>
            <a:endParaRPr lang="en-US" sz="1150" dirty="0"/>
          </a:p>
        </p:txBody>
      </p:sp>
      <p:sp>
        <p:nvSpPr>
          <p:cNvPr id="16" name="Shape 14"/>
          <p:cNvSpPr/>
          <p:nvPr/>
        </p:nvSpPr>
        <p:spPr>
          <a:xfrm>
            <a:off x="8467344" y="3822192"/>
            <a:ext cx="3072384" cy="2212848"/>
          </a:xfrm>
          <a:prstGeom prst="roundRect">
            <a:avLst>
              <a:gd name="adj" fmla="val 5785"/>
            </a:avLst>
          </a:prstGeom>
          <a:solidFill>
            <a:srgbClr val="FFFFFF">
              <a:alpha val="9000"/>
            </a:srgbClr>
          </a:solidFill>
          <a:ln w="9525">
            <a:solidFill>
              <a:srgbClr val="FFFFFF">
                <a:alpha val="22000"/>
              </a:srgbClr>
            </a:solidFill>
            <a:prstDash val="solid"/>
          </a:ln>
        </p:spPr>
      </p:sp>
      <p:sp>
        <p:nvSpPr>
          <p:cNvPr id="17" name="Text 15"/>
          <p:cNvSpPr/>
          <p:nvPr/>
        </p:nvSpPr>
        <p:spPr>
          <a:xfrm>
            <a:off x="8723376" y="3986784"/>
            <a:ext cx="2615184" cy="621792"/>
          </a:xfrm>
          <a:prstGeom prst="rect">
            <a:avLst/>
          </a:prstGeom>
          <a:noFill/>
          <a:ln/>
        </p:spPr>
        <p:txBody>
          <a:bodyPr wrap="square" lIns="0" tIns="0" rIns="0" bIns="0" rtlCol="0" anchor="ctr"/>
          <a:lstStyle/>
          <a:p>
            <a:pPr indent="0" marL="0">
              <a:buNone/>
            </a:pPr>
            <a:r>
              <a:rPr lang="en-US" sz="2600" b="1" dirty="0">
                <a:solidFill>
                  <a:srgbClr val="E08A2E"/>
                </a:solidFill>
                <a:latin typeface="Bookman Old Style" pitchFamily="34" charset="0"/>
                <a:ea typeface="Bookman Old Style" pitchFamily="34" charset="-122"/>
                <a:cs typeface="Bookman Old Style" pitchFamily="34" charset="-120"/>
              </a:rPr>
              <a:t>R150–450</a:t>
            </a:r>
            <a:endParaRPr lang="en-US" sz="2600" dirty="0"/>
          </a:p>
        </p:txBody>
      </p:sp>
      <p:sp>
        <p:nvSpPr>
          <p:cNvPr id="18" name="Text 16"/>
          <p:cNvSpPr/>
          <p:nvPr/>
        </p:nvSpPr>
        <p:spPr>
          <a:xfrm>
            <a:off x="8723376" y="4645152"/>
            <a:ext cx="2560320" cy="1243584"/>
          </a:xfrm>
          <a:prstGeom prst="rect">
            <a:avLst/>
          </a:prstGeom>
          <a:noFill/>
          <a:ln/>
        </p:spPr>
        <p:txBody>
          <a:bodyPr wrap="square" lIns="0" tIns="0" rIns="0" bIns="0" rtlCol="0" anchor="t"/>
          <a:lstStyle/>
          <a:p>
            <a:pPr indent="0" marL="0">
              <a:lnSpc>
                <a:spcPts val="1700"/>
              </a:lnSpc>
              <a:buNone/>
            </a:pPr>
            <a:r>
              <a:rPr lang="en-US" sz="1150" dirty="0">
                <a:solidFill>
                  <a:srgbClr val="D5BCA6"/>
                </a:solidFill>
                <a:latin typeface="Calibri" pitchFamily="34" charset="0"/>
                <a:ea typeface="Calibri" pitchFamily="34" charset="-122"/>
                <a:cs typeface="Calibri" pitchFamily="34" charset="-120"/>
              </a:rPr>
              <a:t>per hour for private tutoring — the one proven fix, priced out of reach of the learners who need it most.</a:t>
            </a:r>
            <a:endParaRPr lang="en-US" sz="1150" dirty="0"/>
          </a:p>
        </p:txBody>
      </p:sp>
    </p:spTree>
  </p:cSld>
  <p:clrMapOvr>
    <a:masterClrMapping/>
  </p:clrMapOvr>
  <mc:AlternateContent xmlns:mc="http://schemas.openxmlformats.org/markup-compatibility/2006">
    <mc:Choice xmlns:p14="http://schemas.microsoft.com/office/powerpoint/2010/main" Requires="p14">
      <p:transition spd="slow" p14:dur="800" advClick="1">
        <p:fade/>
      </p:transition>
    </mc:Choice>
    <mc:Fallback>
      <p:transition spd="slow" advClick="1">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58368" y="384048"/>
            <a:ext cx="10881360" cy="713232"/>
          </a:xfrm>
          <a:prstGeom prst="rect">
            <a:avLst/>
          </a:prstGeom>
          <a:noFill/>
          <a:ln/>
        </p:spPr>
        <p:txBody>
          <a:bodyPr wrap="square" lIns="0" tIns="0" rIns="0" bIns="0" rtlCol="0" anchor="ctr"/>
          <a:lstStyle/>
          <a:p>
            <a:pPr indent="0" marL="0">
              <a:buNone/>
            </a:pPr>
            <a:r>
              <a:rPr lang="en-US" sz="3300" b="1" dirty="0">
                <a:solidFill>
                  <a:srgbClr val="2A1310"/>
                </a:solidFill>
                <a:latin typeface="Bookman Old Style" pitchFamily="34" charset="0"/>
                <a:ea typeface="Bookman Old Style" pitchFamily="34" charset="-122"/>
                <a:cs typeface="Bookman Old Style" pitchFamily="34" charset="-120"/>
              </a:rPr>
              <a:t>Passing is not understanding</a:t>
            </a:r>
            <a:endParaRPr lang="en-US" sz="3300" dirty="0"/>
          </a:p>
        </p:txBody>
      </p:sp>
      <p:graphicFrame>
        <p:nvGraphicFramePr>
          <p:cNvPr id="3" name="Chart 0" descr=""/>
          <p:cNvGraphicFramePr/>
          <p:nvPr/>
        </p:nvGraphicFramePr>
        <p:xfrm>
          <a:off x="457200" y="1188720"/>
          <a:ext cx="7452360" cy="4498848"/>
        </p:xfrm>
        <a:graphic xmlns:a="http://schemas.openxmlformats.org/drawingml/2006/main">
          <a:graphicData uri="http://schemas.openxmlformats.org/drawingml/2006/chart">
            <c:chart xmlns:c="http://schemas.openxmlformats.org/drawingml/2006/chart" r:id="rId2"/>
          </a:graphicData>
        </a:graphic>
      </p:graphicFrame>
      <p:sp>
        <p:nvSpPr>
          <p:cNvPr id="4" name="Shape 1"/>
          <p:cNvSpPr/>
          <p:nvPr/>
        </p:nvSpPr>
        <p:spPr>
          <a:xfrm>
            <a:off x="8101584" y="1188720"/>
            <a:ext cx="3456432" cy="2670048"/>
          </a:xfrm>
          <a:prstGeom prst="roundRect">
            <a:avLst>
              <a:gd name="adj" fmla="val 4795"/>
            </a:avLst>
          </a:prstGeom>
          <a:solidFill>
            <a:srgbClr val="FFFCF5"/>
          </a:solidFill>
          <a:ln w="9525">
            <a:solidFill>
              <a:srgbClr val="E6D6BC"/>
            </a:solidFill>
            <a:prstDash val="solid"/>
          </a:ln>
          <a:effectLst>
            <a:outerShdw sx="100000" sy="100000" kx="0" ky="0" algn="bl" rotWithShape="0" blurRad="127000" dist="25400" dir="5400000">
              <a:srgbClr val="8A6A4A">
                <a:alpha val="16000"/>
              </a:srgbClr>
            </a:outerShdw>
          </a:effectLst>
        </p:spPr>
      </p:sp>
      <p:sp>
        <p:nvSpPr>
          <p:cNvPr id="5" name="Text 2"/>
          <p:cNvSpPr/>
          <p:nvPr/>
        </p:nvSpPr>
        <p:spPr>
          <a:xfrm>
            <a:off x="8357616" y="1426464"/>
            <a:ext cx="2962656" cy="310896"/>
          </a:xfrm>
          <a:prstGeom prst="rect">
            <a:avLst/>
          </a:prstGeom>
          <a:noFill/>
          <a:ln/>
        </p:spPr>
        <p:txBody>
          <a:bodyPr wrap="square" lIns="0" tIns="0" rIns="0" bIns="0" rtlCol="0" anchor="t"/>
          <a:lstStyle/>
          <a:p>
            <a:pPr indent="0" marL="0">
              <a:buNone/>
            </a:pPr>
            <a:r>
              <a:rPr lang="en-US" sz="1050" b="1" spc="180" kern="0" dirty="0">
                <a:solidFill>
                  <a:srgbClr val="C05621"/>
                </a:solidFill>
                <a:latin typeface="Calibri" pitchFamily="34" charset="0"/>
                <a:ea typeface="Calibri" pitchFamily="34" charset="-122"/>
                <a:cs typeface="Calibri" pitchFamily="34" charset="-120"/>
              </a:rPr>
              <a:t>THE GAP IN ONE LINE</a:t>
            </a:r>
            <a:endParaRPr lang="en-US" sz="1050" dirty="0"/>
          </a:p>
        </p:txBody>
      </p:sp>
      <p:sp>
        <p:nvSpPr>
          <p:cNvPr id="6" name="Text 3"/>
          <p:cNvSpPr/>
          <p:nvPr/>
        </p:nvSpPr>
        <p:spPr>
          <a:xfrm>
            <a:off x="8357616" y="1810512"/>
            <a:ext cx="2962656" cy="1828800"/>
          </a:xfrm>
          <a:prstGeom prst="rect">
            <a:avLst/>
          </a:prstGeom>
          <a:noFill/>
          <a:ln/>
        </p:spPr>
        <p:txBody>
          <a:bodyPr wrap="square" lIns="0" tIns="0" rIns="0" bIns="0" rtlCol="0" anchor="t"/>
          <a:lstStyle/>
          <a:p>
            <a:pPr indent="0" marL="0">
              <a:lnSpc>
                <a:spcPts val="2300"/>
              </a:lnSpc>
              <a:buNone/>
            </a:pPr>
            <a:r>
              <a:rPr lang="en-US" sz="1550" b="1" dirty="0">
                <a:solidFill>
                  <a:srgbClr val="2A1310"/>
                </a:solidFill>
                <a:latin typeface="Bookman Old Style" pitchFamily="34" charset="0"/>
                <a:ea typeface="Bookman Old Style" pitchFamily="34" charset="-122"/>
                <a:cs typeface="Bookman Old Style" pitchFamily="34" charset="-120"/>
              </a:rPr>
              <a:t>We are getting better at producing passes. We are not getting better at producing understanding.</a:t>
            </a:r>
            <a:endParaRPr lang="en-US" sz="1550" dirty="0"/>
          </a:p>
        </p:txBody>
      </p:sp>
      <p:sp>
        <p:nvSpPr>
          <p:cNvPr id="7" name="Shape 4"/>
          <p:cNvSpPr/>
          <p:nvPr/>
        </p:nvSpPr>
        <p:spPr>
          <a:xfrm>
            <a:off x="8101584" y="4059936"/>
            <a:ext cx="3456432" cy="1627632"/>
          </a:xfrm>
          <a:prstGeom prst="roundRect">
            <a:avLst>
              <a:gd name="adj" fmla="val 7865"/>
            </a:avLst>
          </a:prstGeom>
          <a:solidFill>
            <a:srgbClr val="F5E3C6"/>
          </a:solidFill>
          <a:ln w="9525">
            <a:solidFill>
              <a:srgbClr val="E6D6BC"/>
            </a:solidFill>
            <a:prstDash val="solid"/>
          </a:ln>
          <a:effectLst>
            <a:outerShdw sx="100000" sy="100000" kx="0" ky="0" algn="bl" rotWithShape="0" blurRad="127000" dist="25400" dir="5400000">
              <a:srgbClr val="8A6A4A">
                <a:alpha val="16000"/>
              </a:srgbClr>
            </a:outerShdw>
          </a:effectLst>
        </p:spPr>
      </p:sp>
      <p:sp>
        <p:nvSpPr>
          <p:cNvPr id="8" name="Text 5"/>
          <p:cNvSpPr/>
          <p:nvPr/>
        </p:nvSpPr>
        <p:spPr>
          <a:xfrm>
            <a:off x="8357616" y="4297680"/>
            <a:ext cx="2962656" cy="1188720"/>
          </a:xfrm>
          <a:prstGeom prst="rect">
            <a:avLst/>
          </a:prstGeom>
          <a:noFill/>
          <a:ln/>
        </p:spPr>
        <p:txBody>
          <a:bodyPr wrap="square" lIns="0" tIns="0" rIns="0" bIns="0" rtlCol="0" anchor="t"/>
          <a:lstStyle/>
          <a:p>
            <a:pPr indent="0" marL="0">
              <a:lnSpc>
                <a:spcPts val="2000"/>
              </a:lnSpc>
              <a:buNone/>
            </a:pPr>
            <a:r>
              <a:rPr lang="en-US" sz="1300" b="1" dirty="0">
                <a:solidFill>
                  <a:srgbClr val="2A1310"/>
                </a:solidFill>
                <a:latin typeface="Calibri" pitchFamily="34" charset="0"/>
                <a:ea typeface="Calibri" pitchFamily="34" charset="-122"/>
                <a:cs typeface="Calibri" pitchFamily="34" charset="-120"/>
              </a:rPr>
              <a:t>A 30% is a pass. </a:t>
            </a:r>
            <a:pPr indent="0" marL="0">
              <a:lnSpc>
                <a:spcPts val="2000"/>
              </a:lnSpc>
              <a:buNone/>
            </a:pPr>
            <a:r>
              <a:rPr lang="en-US" sz="1300" dirty="0">
                <a:solidFill>
                  <a:srgbClr val="5F4534"/>
                </a:solidFill>
                <a:latin typeface="Calibri" pitchFamily="34" charset="0"/>
                <a:ea typeface="Calibri" pitchFamily="34" charset="-122"/>
                <a:cs typeface="Calibri" pitchFamily="34" charset="-120"/>
              </a:rPr>
              <a:t>It is not a mark that carries a learner into a degree, a bursary or a job.</a:t>
            </a:r>
            <a:endParaRPr lang="en-US" sz="1300" dirty="0"/>
          </a:p>
        </p:txBody>
      </p:sp>
      <p:sp>
        <p:nvSpPr>
          <p:cNvPr id="9" name="Text 6"/>
          <p:cNvSpPr/>
          <p:nvPr/>
        </p:nvSpPr>
        <p:spPr>
          <a:xfrm>
            <a:off x="658368" y="5925312"/>
            <a:ext cx="7315200" cy="457200"/>
          </a:xfrm>
          <a:prstGeom prst="rect">
            <a:avLst/>
          </a:prstGeom>
          <a:noFill/>
          <a:ln/>
        </p:spPr>
        <p:txBody>
          <a:bodyPr wrap="square" lIns="0" tIns="0" rIns="0" bIns="0" rtlCol="0" anchor="t"/>
          <a:lstStyle/>
          <a:p>
            <a:pPr indent="0" marL="0">
              <a:buNone/>
            </a:pPr>
            <a:r>
              <a:rPr lang="en-US" sz="950" i="1" dirty="0">
                <a:solidFill>
                  <a:srgbClr val="6E5347"/>
                </a:solidFill>
                <a:latin typeface="Calibri" pitchFamily="34" charset="0"/>
                <a:ea typeface="Calibri" pitchFamily="34" charset="-122"/>
                <a:cs typeface="Calibri" pitchFamily="34" charset="-120"/>
              </a:rPr>
              <a:t>Per cent, Class of 2025. DBE NSC announcement, January 2026; cohort completion per published cohort analyses.</a:t>
            </a:r>
            <a:endParaRPr lang="en-US" sz="950" dirty="0"/>
          </a:p>
        </p:txBody>
      </p:sp>
    </p:spTree>
  </p:cSld>
  <p:clrMapOvr>
    <a:masterClrMapping/>
  </p:clrMapOvr>
  <mc:AlternateContent xmlns:mc="http://schemas.openxmlformats.org/markup-compatibility/2006">
    <mc:Choice xmlns:p14="http://schemas.microsoft.com/office/powerpoint/2010/main" Requires="p14">
      <p:transition spd="slow" p14:dur="800" advClick="1">
        <p:fade/>
      </p:transition>
    </mc:Choice>
    <mc:Fallback>
      <p:transition spd="slow" advClick="1">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58368" y="384048"/>
            <a:ext cx="10881360" cy="713232"/>
          </a:xfrm>
          <a:prstGeom prst="rect">
            <a:avLst/>
          </a:prstGeom>
          <a:noFill/>
          <a:ln/>
        </p:spPr>
        <p:txBody>
          <a:bodyPr wrap="square" lIns="0" tIns="0" rIns="0" bIns="0" rtlCol="0" anchor="ctr"/>
          <a:lstStyle/>
          <a:p>
            <a:pPr indent="0" marL="0">
              <a:buNone/>
            </a:pPr>
            <a:r>
              <a:rPr lang="en-US" sz="3300" b="1" dirty="0">
                <a:solidFill>
                  <a:srgbClr val="2A1310"/>
                </a:solidFill>
                <a:latin typeface="Bookman Old Style" pitchFamily="34" charset="0"/>
                <a:ea typeface="Bookman Old Style" pitchFamily="34" charset="-122"/>
                <a:cs typeface="Bookman Old Style" pitchFamily="34" charset="-120"/>
              </a:rPr>
              <a:t>Our solution</a:t>
            </a:r>
            <a:endParaRPr lang="en-US" sz="3300" dirty="0"/>
          </a:p>
        </p:txBody>
      </p:sp>
      <p:sp>
        <p:nvSpPr>
          <p:cNvPr id="3" name="Text 1"/>
          <p:cNvSpPr/>
          <p:nvPr/>
        </p:nvSpPr>
        <p:spPr>
          <a:xfrm>
            <a:off x="685800" y="1133856"/>
            <a:ext cx="8778240" cy="402336"/>
          </a:xfrm>
          <a:prstGeom prst="rect">
            <a:avLst/>
          </a:prstGeom>
          <a:noFill/>
          <a:ln/>
        </p:spPr>
        <p:txBody>
          <a:bodyPr wrap="square" lIns="0" tIns="0" rIns="0" bIns="0" rtlCol="0" anchor="t"/>
          <a:lstStyle/>
          <a:p>
            <a:pPr indent="0" marL="0">
              <a:buNone/>
            </a:pPr>
            <a:r>
              <a:rPr lang="en-US" sz="1500" dirty="0">
                <a:solidFill>
                  <a:srgbClr val="6E5347"/>
                </a:solidFill>
                <a:latin typeface="Calibri" pitchFamily="34" charset="0"/>
                <a:ea typeface="Calibri" pitchFamily="34" charset="-122"/>
                <a:cs typeface="Calibri" pitchFamily="34" charset="-120"/>
              </a:rPr>
              <a:t>A home-grown AI study companion — built on the South African syllabus, not adapted to it.</a:t>
            </a:r>
            <a:endParaRPr lang="en-US" sz="1500" dirty="0"/>
          </a:p>
        </p:txBody>
      </p:sp>
      <p:sp>
        <p:nvSpPr>
          <p:cNvPr id="4" name="Shape 2"/>
          <p:cNvSpPr/>
          <p:nvPr/>
        </p:nvSpPr>
        <p:spPr>
          <a:xfrm>
            <a:off x="658368" y="1737360"/>
            <a:ext cx="5358384" cy="2084832"/>
          </a:xfrm>
          <a:prstGeom prst="roundRect">
            <a:avLst>
              <a:gd name="adj" fmla="val 6140"/>
            </a:avLst>
          </a:prstGeom>
          <a:solidFill>
            <a:srgbClr val="FFFCF5"/>
          </a:solidFill>
          <a:ln w="9525">
            <a:solidFill>
              <a:srgbClr val="E6D6BC"/>
            </a:solidFill>
            <a:prstDash val="solid"/>
          </a:ln>
          <a:effectLst>
            <a:outerShdw sx="100000" sy="100000" kx="0" ky="0" algn="bl" rotWithShape="0" blurRad="127000" dist="25400" dir="5400000">
              <a:srgbClr val="8A6A4A">
                <a:alpha val="16000"/>
              </a:srgbClr>
            </a:outerShdw>
          </a:effectLst>
        </p:spPr>
      </p:sp>
      <p:sp>
        <p:nvSpPr>
          <p:cNvPr id="5" name="Shape 3"/>
          <p:cNvSpPr/>
          <p:nvPr/>
        </p:nvSpPr>
        <p:spPr>
          <a:xfrm>
            <a:off x="969264" y="2066544"/>
            <a:ext cx="475488" cy="475488"/>
          </a:xfrm>
          <a:prstGeom prst="ellipse">
            <a:avLst/>
          </a:prstGeom>
          <a:solidFill>
            <a:srgbClr val="E08A2E"/>
          </a:solidFill>
          <a:ln/>
        </p:spPr>
      </p:sp>
      <p:sp>
        <p:nvSpPr>
          <p:cNvPr id="6" name="Text 4"/>
          <p:cNvSpPr/>
          <p:nvPr/>
        </p:nvSpPr>
        <p:spPr>
          <a:xfrm>
            <a:off x="969264" y="206654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Bookman Old Style" pitchFamily="34" charset="0"/>
                <a:ea typeface="Bookman Old Style" pitchFamily="34" charset="-122"/>
                <a:cs typeface="Bookman Old Style" pitchFamily="34" charset="-120"/>
              </a:rPr>
              <a:t>1</a:t>
            </a:r>
            <a:endParaRPr lang="en-US" sz="1500" dirty="0"/>
          </a:p>
        </p:txBody>
      </p:sp>
      <p:sp>
        <p:nvSpPr>
          <p:cNvPr id="7" name="Text 5"/>
          <p:cNvSpPr/>
          <p:nvPr/>
        </p:nvSpPr>
        <p:spPr>
          <a:xfrm>
            <a:off x="1591056" y="2029968"/>
            <a:ext cx="4133088" cy="420624"/>
          </a:xfrm>
          <a:prstGeom prst="rect">
            <a:avLst/>
          </a:prstGeom>
          <a:noFill/>
          <a:ln/>
        </p:spPr>
        <p:txBody>
          <a:bodyPr wrap="square" lIns="0" tIns="0" rIns="0" bIns="0" rtlCol="0" anchor="ctr"/>
          <a:lstStyle/>
          <a:p>
            <a:pPr indent="0" marL="0">
              <a:buNone/>
            </a:pPr>
            <a:r>
              <a:rPr lang="en-US" sz="1600" b="1" dirty="0">
                <a:solidFill>
                  <a:srgbClr val="2A1310"/>
                </a:solidFill>
                <a:latin typeface="Bookman Old Style" pitchFamily="34" charset="0"/>
                <a:ea typeface="Bookman Old Style" pitchFamily="34" charset="-122"/>
                <a:cs typeface="Bookman Old Style" pitchFamily="34" charset="-120"/>
              </a:rPr>
              <a:t>Notes that match the syllabus</a:t>
            </a:r>
            <a:endParaRPr lang="en-US" sz="1600" dirty="0"/>
          </a:p>
        </p:txBody>
      </p:sp>
      <p:sp>
        <p:nvSpPr>
          <p:cNvPr id="8" name="Text 6"/>
          <p:cNvSpPr/>
          <p:nvPr/>
        </p:nvSpPr>
        <p:spPr>
          <a:xfrm>
            <a:off x="1591056" y="2542032"/>
            <a:ext cx="4114800" cy="1097280"/>
          </a:xfrm>
          <a:prstGeom prst="rect">
            <a:avLst/>
          </a:prstGeom>
          <a:noFill/>
          <a:ln/>
        </p:spPr>
        <p:txBody>
          <a:bodyPr wrap="square" lIns="0" tIns="0" rIns="0" bIns="0" rtlCol="0" anchor="t"/>
          <a:lstStyle/>
          <a:p>
            <a:pPr indent="0" marL="0">
              <a:lnSpc>
                <a:spcPts val="1800"/>
              </a:lnSpc>
              <a:buNone/>
            </a:pPr>
            <a:r>
              <a:rPr lang="en-US" sz="1250" dirty="0">
                <a:solidFill>
                  <a:srgbClr val="5F4534"/>
                </a:solidFill>
                <a:latin typeface="Calibri" pitchFamily="34" charset="0"/>
                <a:ea typeface="Calibri" pitchFamily="34" charset="-122"/>
                <a:cs typeface="Calibri" pitchFamily="34" charset="-120"/>
              </a:rPr>
              <a:t>Topic-aligned notes with worked examples and the exam tips that show up in CAPS and NATED papers — from a topic, pasted lecture text, or a YouTube link.</a:t>
            </a:r>
            <a:endParaRPr lang="en-US" sz="1250" dirty="0"/>
          </a:p>
        </p:txBody>
      </p:sp>
      <p:sp>
        <p:nvSpPr>
          <p:cNvPr id="9" name="Shape 7"/>
          <p:cNvSpPr/>
          <p:nvPr/>
        </p:nvSpPr>
        <p:spPr>
          <a:xfrm>
            <a:off x="6327648" y="1737360"/>
            <a:ext cx="5358384" cy="2084832"/>
          </a:xfrm>
          <a:prstGeom prst="roundRect">
            <a:avLst>
              <a:gd name="adj" fmla="val 6140"/>
            </a:avLst>
          </a:prstGeom>
          <a:solidFill>
            <a:srgbClr val="FFFCF5"/>
          </a:solidFill>
          <a:ln w="9525">
            <a:solidFill>
              <a:srgbClr val="E6D6BC"/>
            </a:solidFill>
            <a:prstDash val="solid"/>
          </a:ln>
          <a:effectLst>
            <a:outerShdw sx="100000" sy="100000" kx="0" ky="0" algn="bl" rotWithShape="0" blurRad="127000" dist="25400" dir="5400000">
              <a:srgbClr val="8A6A4A">
                <a:alpha val="16000"/>
              </a:srgbClr>
            </a:outerShdw>
          </a:effectLst>
        </p:spPr>
      </p:sp>
      <p:sp>
        <p:nvSpPr>
          <p:cNvPr id="10" name="Shape 8"/>
          <p:cNvSpPr/>
          <p:nvPr/>
        </p:nvSpPr>
        <p:spPr>
          <a:xfrm>
            <a:off x="6638544" y="2066544"/>
            <a:ext cx="475488" cy="475488"/>
          </a:xfrm>
          <a:prstGeom prst="ellipse">
            <a:avLst/>
          </a:prstGeom>
          <a:solidFill>
            <a:srgbClr val="E08A2E"/>
          </a:solidFill>
          <a:ln/>
        </p:spPr>
      </p:sp>
      <p:sp>
        <p:nvSpPr>
          <p:cNvPr id="11" name="Text 9"/>
          <p:cNvSpPr/>
          <p:nvPr/>
        </p:nvSpPr>
        <p:spPr>
          <a:xfrm>
            <a:off x="6638544" y="206654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Bookman Old Style" pitchFamily="34" charset="0"/>
                <a:ea typeface="Bookman Old Style" pitchFamily="34" charset="-122"/>
                <a:cs typeface="Bookman Old Style" pitchFamily="34" charset="-120"/>
              </a:rPr>
              <a:t>2</a:t>
            </a:r>
            <a:endParaRPr lang="en-US" sz="1500" dirty="0"/>
          </a:p>
        </p:txBody>
      </p:sp>
      <p:sp>
        <p:nvSpPr>
          <p:cNvPr id="12" name="Text 10"/>
          <p:cNvSpPr/>
          <p:nvPr/>
        </p:nvSpPr>
        <p:spPr>
          <a:xfrm>
            <a:off x="7260336" y="2029968"/>
            <a:ext cx="4133088" cy="420624"/>
          </a:xfrm>
          <a:prstGeom prst="rect">
            <a:avLst/>
          </a:prstGeom>
          <a:noFill/>
          <a:ln/>
        </p:spPr>
        <p:txBody>
          <a:bodyPr wrap="square" lIns="0" tIns="0" rIns="0" bIns="0" rtlCol="0" anchor="ctr"/>
          <a:lstStyle/>
          <a:p>
            <a:pPr indent="0" marL="0">
              <a:buNone/>
            </a:pPr>
            <a:r>
              <a:rPr lang="en-US" sz="1600" b="1" dirty="0">
                <a:solidFill>
                  <a:srgbClr val="2A1310"/>
                </a:solidFill>
                <a:latin typeface="Bookman Old Style" pitchFamily="34" charset="0"/>
                <a:ea typeface="Bookman Old Style" pitchFamily="34" charset="-122"/>
                <a:cs typeface="Bookman Old Style" pitchFamily="34" charset="-120"/>
              </a:rPr>
              <a:t>Proper maths, properly rendered</a:t>
            </a:r>
            <a:endParaRPr lang="en-US" sz="1600" dirty="0"/>
          </a:p>
        </p:txBody>
      </p:sp>
      <p:sp>
        <p:nvSpPr>
          <p:cNvPr id="13" name="Text 11"/>
          <p:cNvSpPr/>
          <p:nvPr/>
        </p:nvSpPr>
        <p:spPr>
          <a:xfrm>
            <a:off x="7260336" y="2542032"/>
            <a:ext cx="4114800" cy="1097280"/>
          </a:xfrm>
          <a:prstGeom prst="rect">
            <a:avLst/>
          </a:prstGeom>
          <a:noFill/>
          <a:ln/>
        </p:spPr>
        <p:txBody>
          <a:bodyPr wrap="square" lIns="0" tIns="0" rIns="0" bIns="0" rtlCol="0" anchor="t"/>
          <a:lstStyle/>
          <a:p>
            <a:pPr indent="0" marL="0">
              <a:lnSpc>
                <a:spcPts val="1800"/>
              </a:lnSpc>
              <a:buNone/>
            </a:pPr>
            <a:r>
              <a:rPr lang="en-US" sz="1250" dirty="0">
                <a:solidFill>
                  <a:srgbClr val="5F4534"/>
                </a:solidFill>
                <a:latin typeface="Calibri" pitchFamily="34" charset="0"/>
                <a:ea typeface="Calibri" pitchFamily="34" charset="-122"/>
                <a:cs typeface="Calibri" pitchFamily="34" charset="-120"/>
              </a:rPr>
              <a:t>Fractions, integrals, ∑, √, π — the full South African exam notation set, not plain-text approximations a learner has to decode.</a:t>
            </a:r>
            <a:endParaRPr lang="en-US" sz="1250" dirty="0"/>
          </a:p>
        </p:txBody>
      </p:sp>
      <p:sp>
        <p:nvSpPr>
          <p:cNvPr id="14" name="Shape 12"/>
          <p:cNvSpPr/>
          <p:nvPr/>
        </p:nvSpPr>
        <p:spPr>
          <a:xfrm>
            <a:off x="658368" y="4114800"/>
            <a:ext cx="5358384" cy="2084832"/>
          </a:xfrm>
          <a:prstGeom prst="roundRect">
            <a:avLst>
              <a:gd name="adj" fmla="val 6140"/>
            </a:avLst>
          </a:prstGeom>
          <a:solidFill>
            <a:srgbClr val="FFFCF5"/>
          </a:solidFill>
          <a:ln w="9525">
            <a:solidFill>
              <a:srgbClr val="E6D6BC"/>
            </a:solidFill>
            <a:prstDash val="solid"/>
          </a:ln>
          <a:effectLst>
            <a:outerShdw sx="100000" sy="100000" kx="0" ky="0" algn="bl" rotWithShape="0" blurRad="127000" dist="25400" dir="5400000">
              <a:srgbClr val="8A6A4A">
                <a:alpha val="16000"/>
              </a:srgbClr>
            </a:outerShdw>
          </a:effectLst>
        </p:spPr>
      </p:sp>
      <p:sp>
        <p:nvSpPr>
          <p:cNvPr id="15" name="Shape 13"/>
          <p:cNvSpPr/>
          <p:nvPr/>
        </p:nvSpPr>
        <p:spPr>
          <a:xfrm>
            <a:off x="969264" y="4443984"/>
            <a:ext cx="475488" cy="475488"/>
          </a:xfrm>
          <a:prstGeom prst="ellipse">
            <a:avLst/>
          </a:prstGeom>
          <a:solidFill>
            <a:srgbClr val="E08A2E"/>
          </a:solidFill>
          <a:ln/>
        </p:spPr>
      </p:sp>
      <p:sp>
        <p:nvSpPr>
          <p:cNvPr id="16" name="Text 14"/>
          <p:cNvSpPr/>
          <p:nvPr/>
        </p:nvSpPr>
        <p:spPr>
          <a:xfrm>
            <a:off x="969264" y="444398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Bookman Old Style" pitchFamily="34" charset="0"/>
                <a:ea typeface="Bookman Old Style" pitchFamily="34" charset="-122"/>
                <a:cs typeface="Bookman Old Style" pitchFamily="34" charset="-120"/>
              </a:rPr>
              <a:t>3</a:t>
            </a:r>
            <a:endParaRPr lang="en-US" sz="1500" dirty="0"/>
          </a:p>
        </p:txBody>
      </p:sp>
      <p:sp>
        <p:nvSpPr>
          <p:cNvPr id="17" name="Text 15"/>
          <p:cNvSpPr/>
          <p:nvPr/>
        </p:nvSpPr>
        <p:spPr>
          <a:xfrm>
            <a:off x="1591056" y="4407408"/>
            <a:ext cx="4133088" cy="420624"/>
          </a:xfrm>
          <a:prstGeom prst="rect">
            <a:avLst/>
          </a:prstGeom>
          <a:noFill/>
          <a:ln/>
        </p:spPr>
        <p:txBody>
          <a:bodyPr wrap="square" lIns="0" tIns="0" rIns="0" bIns="0" rtlCol="0" anchor="ctr"/>
          <a:lstStyle/>
          <a:p>
            <a:pPr indent="0" marL="0">
              <a:buNone/>
            </a:pPr>
            <a:r>
              <a:rPr lang="en-US" sz="1600" b="1" dirty="0">
                <a:solidFill>
                  <a:srgbClr val="2A1310"/>
                </a:solidFill>
                <a:latin typeface="Bookman Old Style" pitchFamily="34" charset="0"/>
                <a:ea typeface="Bookman Old Style" pitchFamily="34" charset="-122"/>
                <a:cs typeface="Bookman Old Style" pitchFamily="34" charset="-120"/>
              </a:rPr>
              <a:t>Active recall, built in</a:t>
            </a:r>
            <a:endParaRPr lang="en-US" sz="1600" dirty="0"/>
          </a:p>
        </p:txBody>
      </p:sp>
      <p:sp>
        <p:nvSpPr>
          <p:cNvPr id="18" name="Text 16"/>
          <p:cNvSpPr/>
          <p:nvPr/>
        </p:nvSpPr>
        <p:spPr>
          <a:xfrm>
            <a:off x="1591056" y="4919472"/>
            <a:ext cx="4114800" cy="1097280"/>
          </a:xfrm>
          <a:prstGeom prst="rect">
            <a:avLst/>
          </a:prstGeom>
          <a:noFill/>
          <a:ln/>
        </p:spPr>
        <p:txBody>
          <a:bodyPr wrap="square" lIns="0" tIns="0" rIns="0" bIns="0" rtlCol="0" anchor="t"/>
          <a:lstStyle/>
          <a:p>
            <a:pPr indent="0" marL="0">
              <a:lnSpc>
                <a:spcPts val="1800"/>
              </a:lnSpc>
              <a:buNone/>
            </a:pPr>
            <a:r>
              <a:rPr lang="en-US" sz="1250" dirty="0">
                <a:solidFill>
                  <a:srgbClr val="5F4534"/>
                </a:solidFill>
                <a:latin typeface="Calibri" pitchFamily="34" charset="0"/>
                <a:ea typeface="Calibri" pitchFamily="34" charset="-122"/>
                <a:cs typeface="Calibri" pitchFamily="34" charset="-120"/>
              </a:rPr>
              <a:t>Quizzes and flashcards generated from any note in one click. Mastery is tracked, and the topics a learner gets wrong come back.</a:t>
            </a:r>
            <a:endParaRPr lang="en-US" sz="1250" dirty="0"/>
          </a:p>
        </p:txBody>
      </p:sp>
      <p:sp>
        <p:nvSpPr>
          <p:cNvPr id="19" name="Shape 17"/>
          <p:cNvSpPr/>
          <p:nvPr/>
        </p:nvSpPr>
        <p:spPr>
          <a:xfrm>
            <a:off x="6327648" y="4114800"/>
            <a:ext cx="5358384" cy="2084832"/>
          </a:xfrm>
          <a:prstGeom prst="roundRect">
            <a:avLst>
              <a:gd name="adj" fmla="val 6140"/>
            </a:avLst>
          </a:prstGeom>
          <a:solidFill>
            <a:srgbClr val="FFFCF5"/>
          </a:solidFill>
          <a:ln w="9525">
            <a:solidFill>
              <a:srgbClr val="E6D6BC"/>
            </a:solidFill>
            <a:prstDash val="solid"/>
          </a:ln>
          <a:effectLst>
            <a:outerShdw sx="100000" sy="100000" kx="0" ky="0" algn="bl" rotWithShape="0" blurRad="127000" dist="25400" dir="5400000">
              <a:srgbClr val="8A6A4A">
                <a:alpha val="16000"/>
              </a:srgbClr>
            </a:outerShdw>
          </a:effectLst>
        </p:spPr>
      </p:sp>
      <p:sp>
        <p:nvSpPr>
          <p:cNvPr id="20" name="Shape 18"/>
          <p:cNvSpPr/>
          <p:nvPr/>
        </p:nvSpPr>
        <p:spPr>
          <a:xfrm>
            <a:off x="6638544" y="4443984"/>
            <a:ext cx="475488" cy="475488"/>
          </a:xfrm>
          <a:prstGeom prst="ellipse">
            <a:avLst/>
          </a:prstGeom>
          <a:solidFill>
            <a:srgbClr val="E08A2E"/>
          </a:solidFill>
          <a:ln/>
        </p:spPr>
      </p:sp>
      <p:sp>
        <p:nvSpPr>
          <p:cNvPr id="21" name="Text 19"/>
          <p:cNvSpPr/>
          <p:nvPr/>
        </p:nvSpPr>
        <p:spPr>
          <a:xfrm>
            <a:off x="6638544" y="444398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Bookman Old Style" pitchFamily="34" charset="0"/>
                <a:ea typeface="Bookman Old Style" pitchFamily="34" charset="-122"/>
                <a:cs typeface="Bookman Old Style" pitchFamily="34" charset="-120"/>
              </a:rPr>
              <a:t>4</a:t>
            </a:r>
            <a:endParaRPr lang="en-US" sz="1500" dirty="0"/>
          </a:p>
        </p:txBody>
      </p:sp>
      <p:sp>
        <p:nvSpPr>
          <p:cNvPr id="22" name="Text 20"/>
          <p:cNvSpPr/>
          <p:nvPr/>
        </p:nvSpPr>
        <p:spPr>
          <a:xfrm>
            <a:off x="7260336" y="4407408"/>
            <a:ext cx="4133088" cy="420624"/>
          </a:xfrm>
          <a:prstGeom prst="rect">
            <a:avLst/>
          </a:prstGeom>
          <a:noFill/>
          <a:ln/>
        </p:spPr>
        <p:txBody>
          <a:bodyPr wrap="square" lIns="0" tIns="0" rIns="0" bIns="0" rtlCol="0" anchor="ctr"/>
          <a:lstStyle/>
          <a:p>
            <a:pPr indent="0" marL="0">
              <a:buNone/>
            </a:pPr>
            <a:r>
              <a:rPr lang="en-US" sz="1600" b="1" dirty="0">
                <a:solidFill>
                  <a:srgbClr val="2A1310"/>
                </a:solidFill>
                <a:latin typeface="Bookman Old Style" pitchFamily="34" charset="0"/>
                <a:ea typeface="Bookman Old Style" pitchFamily="34" charset="-122"/>
                <a:cs typeface="Bookman Old Style" pitchFamily="34" charset="-120"/>
              </a:rPr>
              <a:t>Paced to the learner</a:t>
            </a:r>
            <a:endParaRPr lang="en-US" sz="1600" dirty="0"/>
          </a:p>
        </p:txBody>
      </p:sp>
      <p:sp>
        <p:nvSpPr>
          <p:cNvPr id="23" name="Text 21"/>
          <p:cNvSpPr/>
          <p:nvPr/>
        </p:nvSpPr>
        <p:spPr>
          <a:xfrm>
            <a:off x="7260336" y="4919472"/>
            <a:ext cx="4114800" cy="1097280"/>
          </a:xfrm>
          <a:prstGeom prst="rect">
            <a:avLst/>
          </a:prstGeom>
          <a:noFill/>
          <a:ln/>
        </p:spPr>
        <p:txBody>
          <a:bodyPr wrap="square" lIns="0" tIns="0" rIns="0" bIns="0" rtlCol="0" anchor="t"/>
          <a:lstStyle/>
          <a:p>
            <a:pPr indent="0" marL="0">
              <a:lnSpc>
                <a:spcPts val="1800"/>
              </a:lnSpc>
              <a:buNone/>
            </a:pPr>
            <a:r>
              <a:rPr lang="en-US" sz="1250" dirty="0">
                <a:solidFill>
                  <a:srgbClr val="5F4534"/>
                </a:solidFill>
                <a:latin typeface="Calibri" pitchFamily="34" charset="0"/>
                <a:ea typeface="Calibri" pitchFamily="34" charset="-122"/>
                <a:cs typeface="Calibri" pitchFamily="34" charset="-120"/>
              </a:rPr>
              <a:t>Explains one concept five different ways without ever judging, at two in the morning, on cheap data and an entry-level phone.</a:t>
            </a:r>
            <a:endParaRPr lang="en-US" sz="1250" dirty="0"/>
          </a:p>
        </p:txBody>
      </p:sp>
    </p:spTree>
  </p:cSld>
  <p:clrMapOvr>
    <a:masterClrMapping/>
  </p:clrMapOvr>
  <mc:AlternateContent xmlns:mc="http://schemas.openxmlformats.org/markup-compatibility/2006">
    <mc:Choice xmlns:p14="http://schemas.microsoft.com/office/powerpoint/2010/main" Requires="p14">
      <p:transition spd="slow" p14:dur="800" advClick="1">
        <p:fade/>
      </p:transition>
    </mc:Choice>
    <mc:Fallback>
      <p:transition spd="slow" advClick="1">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58368" y="384048"/>
            <a:ext cx="10881360" cy="713232"/>
          </a:xfrm>
          <a:prstGeom prst="rect">
            <a:avLst/>
          </a:prstGeom>
          <a:noFill/>
          <a:ln/>
        </p:spPr>
        <p:txBody>
          <a:bodyPr wrap="square" lIns="0" tIns="0" rIns="0" bIns="0" rtlCol="0" anchor="ctr"/>
          <a:lstStyle/>
          <a:p>
            <a:pPr indent="0" marL="0">
              <a:buNone/>
            </a:pPr>
            <a:r>
              <a:rPr lang="en-US" sz="3300" b="1" dirty="0">
                <a:solidFill>
                  <a:srgbClr val="F6EBD8"/>
                </a:solidFill>
                <a:latin typeface="Bookman Old Style" pitchFamily="34" charset="0"/>
                <a:ea typeface="Bookman Old Style" pitchFamily="34" charset="-122"/>
                <a:cs typeface="Bookman Old Style" pitchFamily="34" charset="-120"/>
              </a:rPr>
              <a:t>Built, and on the real syllabus</a:t>
            </a:r>
            <a:endParaRPr lang="en-US" sz="3300" dirty="0"/>
          </a:p>
        </p:txBody>
      </p:sp>
      <p:sp>
        <p:nvSpPr>
          <p:cNvPr id="3" name="Text 1"/>
          <p:cNvSpPr/>
          <p:nvPr/>
        </p:nvSpPr>
        <p:spPr>
          <a:xfrm>
            <a:off x="685800" y="1115568"/>
            <a:ext cx="10698480" cy="457200"/>
          </a:xfrm>
          <a:prstGeom prst="rect">
            <a:avLst/>
          </a:prstGeom>
          <a:noFill/>
          <a:ln/>
        </p:spPr>
        <p:txBody>
          <a:bodyPr wrap="square" lIns="0" tIns="0" rIns="0" bIns="0" rtlCol="0" anchor="t"/>
          <a:lstStyle/>
          <a:p>
            <a:pPr indent="0" marL="0">
              <a:buNone/>
            </a:pPr>
            <a:r>
              <a:rPr lang="en-US" sz="1450" dirty="0">
                <a:solidFill>
                  <a:srgbClr val="D5BCA6"/>
                </a:solidFill>
                <a:latin typeface="Calibri" pitchFamily="34" charset="0"/>
                <a:ea typeface="Calibri" pitchFamily="34" charset="-122"/>
                <a:cs typeface="Calibri" pitchFamily="34" charset="-120"/>
              </a:rPr>
              <a:t>Not a mock-up. This is the product today — every CAPS subject a Grade 10 to 12 learner writes, and the NATED subjects a TVET student writes, side by side in one app.</a:t>
            </a:r>
            <a:endParaRPr lang="en-US" sz="1450" dirty="0"/>
          </a:p>
        </p:txBody>
      </p:sp>
      <p:sp>
        <p:nvSpPr>
          <p:cNvPr id="4" name="Shape 2"/>
          <p:cNvSpPr/>
          <p:nvPr/>
        </p:nvSpPr>
        <p:spPr>
          <a:xfrm>
            <a:off x="585216" y="1755648"/>
            <a:ext cx="5504688" cy="3022053"/>
          </a:xfrm>
          <a:prstGeom prst="roundRect">
            <a:avLst>
              <a:gd name="adj" fmla="val 3026"/>
            </a:avLst>
          </a:prstGeom>
          <a:solidFill>
            <a:srgbClr val="FFFFFF">
              <a:alpha val="12000"/>
            </a:srgbClr>
          </a:solidFill>
          <a:ln/>
          <a:effectLst>
            <a:outerShdw sx="100000" sy="100000" kx="0" ky="0" algn="bl" rotWithShape="0" blurRad="228600" dist="50800" dir="5400000">
              <a:srgbClr val="000000">
                <a:alpha val="50000"/>
              </a:srgbClr>
            </a:outerShdw>
          </a:effectLst>
        </p:spPr>
      </p:sp>
      <p:pic>
        <p:nvPicPr>
          <p:cNvPr id="5" name="Image 0" descr="assets/caps.png">    </p:cNvPr>
          <p:cNvPicPr>
            <a:picLocks noChangeAspect="1"/>
          </p:cNvPicPr>
          <p:nvPr/>
        </p:nvPicPr>
        <p:blipFill>
          <a:blip r:embed="rId2"/>
          <a:stretch>
            <a:fillRect/>
          </a:stretch>
        </p:blipFill>
        <p:spPr>
          <a:xfrm>
            <a:off x="658368" y="1828800"/>
            <a:ext cx="5358384" cy="2875749"/>
          </a:xfrm>
          <a:prstGeom prst="rect">
            <a:avLst/>
          </a:prstGeom>
        </p:spPr>
      </p:pic>
      <p:sp>
        <p:nvSpPr>
          <p:cNvPr id="6" name="Text 3"/>
          <p:cNvSpPr/>
          <p:nvPr/>
        </p:nvSpPr>
        <p:spPr>
          <a:xfrm>
            <a:off x="658368" y="4832565"/>
            <a:ext cx="5358384" cy="310896"/>
          </a:xfrm>
          <a:prstGeom prst="rect">
            <a:avLst/>
          </a:prstGeom>
          <a:noFill/>
          <a:ln/>
        </p:spPr>
        <p:txBody>
          <a:bodyPr wrap="square" lIns="0" tIns="0" rIns="0" bIns="0" rtlCol="0" anchor="t"/>
          <a:lstStyle/>
          <a:p>
            <a:pPr indent="0" marL="0">
              <a:buNone/>
            </a:pPr>
            <a:r>
              <a:rPr lang="en-US" sz="1150" b="1" spc="160" kern="0" dirty="0">
                <a:solidFill>
                  <a:srgbClr val="E08A2E"/>
                </a:solidFill>
                <a:latin typeface="Calibri" pitchFamily="34" charset="0"/>
                <a:ea typeface="Calibri" pitchFamily="34" charset="-122"/>
                <a:cs typeface="Calibri" pitchFamily="34" charset="-120"/>
              </a:rPr>
              <a:t>CAPS — Grade 10 to 12</a:t>
            </a:r>
            <a:endParaRPr lang="en-US" sz="1150" dirty="0"/>
          </a:p>
        </p:txBody>
      </p:sp>
      <p:sp>
        <p:nvSpPr>
          <p:cNvPr id="7" name="Shape 4"/>
          <p:cNvSpPr/>
          <p:nvPr/>
        </p:nvSpPr>
        <p:spPr>
          <a:xfrm>
            <a:off x="6099048" y="1755648"/>
            <a:ext cx="5504688" cy="3022053"/>
          </a:xfrm>
          <a:prstGeom prst="roundRect">
            <a:avLst>
              <a:gd name="adj" fmla="val 3026"/>
            </a:avLst>
          </a:prstGeom>
          <a:solidFill>
            <a:srgbClr val="FFFFFF">
              <a:alpha val="12000"/>
            </a:srgbClr>
          </a:solidFill>
          <a:ln/>
          <a:effectLst>
            <a:outerShdw sx="100000" sy="100000" kx="0" ky="0" algn="bl" rotWithShape="0" blurRad="228600" dist="50800" dir="5400000">
              <a:srgbClr val="000000">
                <a:alpha val="50000"/>
              </a:srgbClr>
            </a:outerShdw>
          </a:effectLst>
        </p:spPr>
      </p:sp>
      <p:pic>
        <p:nvPicPr>
          <p:cNvPr id="8" name="Image 1" descr="assets/nated-pad.png">    </p:cNvPr>
          <p:cNvPicPr>
            <a:picLocks noChangeAspect="1"/>
          </p:cNvPicPr>
          <p:nvPr/>
        </p:nvPicPr>
        <p:blipFill>
          <a:blip r:embed="rId3"/>
          <a:stretch>
            <a:fillRect/>
          </a:stretch>
        </p:blipFill>
        <p:spPr>
          <a:xfrm>
            <a:off x="6172200" y="1828800"/>
            <a:ext cx="5358384" cy="2875749"/>
          </a:xfrm>
          <a:prstGeom prst="rect">
            <a:avLst/>
          </a:prstGeom>
        </p:spPr>
      </p:pic>
      <p:sp>
        <p:nvSpPr>
          <p:cNvPr id="9" name="Text 5"/>
          <p:cNvSpPr/>
          <p:nvPr/>
        </p:nvSpPr>
        <p:spPr>
          <a:xfrm>
            <a:off x="6172200" y="4832565"/>
            <a:ext cx="5358384" cy="310896"/>
          </a:xfrm>
          <a:prstGeom prst="rect">
            <a:avLst/>
          </a:prstGeom>
          <a:noFill/>
          <a:ln/>
        </p:spPr>
        <p:txBody>
          <a:bodyPr wrap="square" lIns="0" tIns="0" rIns="0" bIns="0" rtlCol="0" anchor="t"/>
          <a:lstStyle/>
          <a:p>
            <a:pPr indent="0" marL="0">
              <a:buNone/>
            </a:pPr>
            <a:r>
              <a:rPr lang="en-US" sz="1150" b="1" spc="160" kern="0" dirty="0">
                <a:solidFill>
                  <a:srgbClr val="E08A2E"/>
                </a:solidFill>
                <a:latin typeface="Calibri" pitchFamily="34" charset="0"/>
                <a:ea typeface="Calibri" pitchFamily="34" charset="-122"/>
                <a:cs typeface="Calibri" pitchFamily="34" charset="-120"/>
              </a:rPr>
              <a:t>NATED — N1 to N6</a:t>
            </a:r>
            <a:endParaRPr lang="en-US" sz="1150" dirty="0"/>
          </a:p>
        </p:txBody>
      </p:sp>
      <p:sp>
        <p:nvSpPr>
          <p:cNvPr id="10" name="Shape 6"/>
          <p:cNvSpPr/>
          <p:nvPr/>
        </p:nvSpPr>
        <p:spPr>
          <a:xfrm>
            <a:off x="868680" y="5779008"/>
            <a:ext cx="10561320" cy="0"/>
          </a:xfrm>
          <a:prstGeom prst="line">
            <a:avLst/>
          </a:prstGeom>
          <a:noFill/>
          <a:ln w="12700">
            <a:solidFill>
              <a:srgbClr val="8A6A55"/>
            </a:solidFill>
            <a:prstDash val="solid"/>
          </a:ln>
        </p:spPr>
      </p:sp>
      <p:sp>
        <p:nvSpPr>
          <p:cNvPr id="11" name="Shape 7"/>
          <p:cNvSpPr/>
          <p:nvPr/>
        </p:nvSpPr>
        <p:spPr>
          <a:xfrm>
            <a:off x="800100" y="5710428"/>
            <a:ext cx="137160" cy="137160"/>
          </a:xfrm>
          <a:prstGeom prst="ellipse">
            <a:avLst/>
          </a:prstGeom>
          <a:solidFill>
            <a:srgbClr val="E08A2E"/>
          </a:solidFill>
          <a:ln/>
        </p:spPr>
      </p:sp>
      <p:sp>
        <p:nvSpPr>
          <p:cNvPr id="12" name="Text 8"/>
          <p:cNvSpPr/>
          <p:nvPr/>
        </p:nvSpPr>
        <p:spPr>
          <a:xfrm>
            <a:off x="777240" y="5303520"/>
            <a:ext cx="2560320" cy="274320"/>
          </a:xfrm>
          <a:prstGeom prst="rect">
            <a:avLst/>
          </a:prstGeom>
          <a:noFill/>
          <a:ln/>
        </p:spPr>
        <p:txBody>
          <a:bodyPr wrap="square" lIns="0" tIns="0" rIns="0" bIns="0" rtlCol="0" anchor="t"/>
          <a:lstStyle/>
          <a:p>
            <a:pPr algn="l" indent="0" marL="0">
              <a:buNone/>
            </a:pPr>
            <a:r>
              <a:rPr lang="en-US" sz="1000" b="1" spc="140" kern="0" dirty="0">
                <a:solidFill>
                  <a:srgbClr val="E08A2E"/>
                </a:solidFill>
                <a:latin typeface="Calibri" pitchFamily="34" charset="0"/>
                <a:ea typeface="Calibri" pitchFamily="34" charset="-122"/>
                <a:cs typeface="Calibri" pitchFamily="34" charset="-120"/>
              </a:rPr>
              <a:t>NOW</a:t>
            </a:r>
            <a:endParaRPr lang="en-US" sz="1000" dirty="0"/>
          </a:p>
        </p:txBody>
      </p:sp>
      <p:sp>
        <p:nvSpPr>
          <p:cNvPr id="13" name="Text 9"/>
          <p:cNvSpPr/>
          <p:nvPr/>
        </p:nvSpPr>
        <p:spPr>
          <a:xfrm>
            <a:off x="777240" y="5888736"/>
            <a:ext cx="2560320" cy="274320"/>
          </a:xfrm>
          <a:prstGeom prst="rect">
            <a:avLst/>
          </a:prstGeom>
          <a:noFill/>
          <a:ln/>
        </p:spPr>
        <p:txBody>
          <a:bodyPr wrap="square" lIns="0" tIns="0" rIns="0" bIns="0" rtlCol="0" anchor="t"/>
          <a:lstStyle/>
          <a:p>
            <a:pPr algn="l" indent="0" marL="0">
              <a:buNone/>
            </a:pPr>
            <a:r>
              <a:rPr lang="en-US" sz="1200" dirty="0">
                <a:solidFill>
                  <a:srgbClr val="F6EBD8"/>
                </a:solidFill>
                <a:latin typeface="Calibri" pitchFamily="34" charset="0"/>
                <a:ea typeface="Calibri" pitchFamily="34" charset="-122"/>
                <a:cs typeface="Calibri" pitchFamily="34" charset="-120"/>
              </a:rPr>
              <a:t>Built &amp; deploying</a:t>
            </a:r>
            <a:endParaRPr lang="en-US" sz="1200" dirty="0"/>
          </a:p>
        </p:txBody>
      </p:sp>
      <p:sp>
        <p:nvSpPr>
          <p:cNvPr id="14" name="Shape 10"/>
          <p:cNvSpPr/>
          <p:nvPr/>
        </p:nvSpPr>
        <p:spPr>
          <a:xfrm>
            <a:off x="4320540" y="5710428"/>
            <a:ext cx="137160" cy="137160"/>
          </a:xfrm>
          <a:prstGeom prst="ellipse">
            <a:avLst/>
          </a:prstGeom>
          <a:solidFill>
            <a:srgbClr val="B9977B"/>
          </a:solidFill>
          <a:ln/>
        </p:spPr>
      </p:sp>
      <p:sp>
        <p:nvSpPr>
          <p:cNvPr id="15" name="Text 11"/>
          <p:cNvSpPr/>
          <p:nvPr/>
        </p:nvSpPr>
        <p:spPr>
          <a:xfrm>
            <a:off x="4297680" y="5303520"/>
            <a:ext cx="2560320" cy="274320"/>
          </a:xfrm>
          <a:prstGeom prst="rect">
            <a:avLst/>
          </a:prstGeom>
          <a:noFill/>
          <a:ln/>
        </p:spPr>
        <p:txBody>
          <a:bodyPr wrap="square" lIns="0" tIns="0" rIns="0" bIns="0" rtlCol="0" anchor="t"/>
          <a:lstStyle/>
          <a:p>
            <a:pPr algn="l" indent="0" marL="0">
              <a:buNone/>
            </a:pPr>
            <a:r>
              <a:rPr lang="en-US" sz="1000" b="1" spc="140" kern="0" dirty="0">
                <a:solidFill>
                  <a:srgbClr val="B9977B"/>
                </a:solidFill>
                <a:latin typeface="Calibri" pitchFamily="34" charset="0"/>
                <a:ea typeface="Calibri" pitchFamily="34" charset="-122"/>
                <a:cs typeface="Calibri" pitchFamily="34" charset="-120"/>
              </a:rPr>
              <a:t>TERM 3</a:t>
            </a:r>
            <a:endParaRPr lang="en-US" sz="1000" dirty="0"/>
          </a:p>
        </p:txBody>
      </p:sp>
      <p:sp>
        <p:nvSpPr>
          <p:cNvPr id="16" name="Text 12"/>
          <p:cNvSpPr/>
          <p:nvPr/>
        </p:nvSpPr>
        <p:spPr>
          <a:xfrm>
            <a:off x="4297680" y="5888736"/>
            <a:ext cx="2560320" cy="274320"/>
          </a:xfrm>
          <a:prstGeom prst="rect">
            <a:avLst/>
          </a:prstGeom>
          <a:noFill/>
          <a:ln/>
        </p:spPr>
        <p:txBody>
          <a:bodyPr wrap="square" lIns="0" tIns="0" rIns="0" bIns="0" rtlCol="0" anchor="t"/>
          <a:lstStyle/>
          <a:p>
            <a:pPr algn="l" indent="0" marL="0">
              <a:buNone/>
            </a:pPr>
            <a:r>
              <a:rPr lang="en-US" sz="1200" dirty="0">
                <a:solidFill>
                  <a:srgbClr val="F6EBD8"/>
                </a:solidFill>
                <a:latin typeface="Calibri" pitchFamily="34" charset="0"/>
                <a:ea typeface="Calibri" pitchFamily="34" charset="-122"/>
                <a:cs typeface="Calibri" pitchFamily="34" charset="-120"/>
              </a:rPr>
              <a:t>Campus pilot</a:t>
            </a:r>
            <a:endParaRPr lang="en-US" sz="1200" dirty="0"/>
          </a:p>
        </p:txBody>
      </p:sp>
      <p:sp>
        <p:nvSpPr>
          <p:cNvPr id="17" name="Shape 13"/>
          <p:cNvSpPr/>
          <p:nvPr/>
        </p:nvSpPr>
        <p:spPr>
          <a:xfrm>
            <a:off x="7840980" y="5710428"/>
            <a:ext cx="137160" cy="137160"/>
          </a:xfrm>
          <a:prstGeom prst="ellipse">
            <a:avLst/>
          </a:prstGeom>
          <a:solidFill>
            <a:srgbClr val="B9977B"/>
          </a:solidFill>
          <a:ln/>
        </p:spPr>
      </p:sp>
      <p:sp>
        <p:nvSpPr>
          <p:cNvPr id="18" name="Text 14"/>
          <p:cNvSpPr/>
          <p:nvPr/>
        </p:nvSpPr>
        <p:spPr>
          <a:xfrm>
            <a:off x="7818120" y="5303520"/>
            <a:ext cx="2560320" cy="274320"/>
          </a:xfrm>
          <a:prstGeom prst="rect">
            <a:avLst/>
          </a:prstGeom>
          <a:noFill/>
          <a:ln/>
        </p:spPr>
        <p:txBody>
          <a:bodyPr wrap="square" lIns="0" tIns="0" rIns="0" bIns="0" rtlCol="0" anchor="t"/>
          <a:lstStyle/>
          <a:p>
            <a:pPr algn="l" indent="0" marL="0">
              <a:buNone/>
            </a:pPr>
            <a:r>
              <a:rPr lang="en-US" sz="1000" b="1" spc="140" kern="0" dirty="0">
                <a:solidFill>
                  <a:srgbClr val="B9977B"/>
                </a:solidFill>
                <a:latin typeface="Calibri" pitchFamily="34" charset="0"/>
                <a:ea typeface="Calibri" pitchFamily="34" charset="-122"/>
                <a:cs typeface="Calibri" pitchFamily="34" charset="-120"/>
              </a:rPr>
              <a:t>TERM 4</a:t>
            </a:r>
            <a:endParaRPr lang="en-US" sz="1000" dirty="0"/>
          </a:p>
        </p:txBody>
      </p:sp>
      <p:sp>
        <p:nvSpPr>
          <p:cNvPr id="19" name="Text 15"/>
          <p:cNvSpPr/>
          <p:nvPr/>
        </p:nvSpPr>
        <p:spPr>
          <a:xfrm>
            <a:off x="7818120" y="5888736"/>
            <a:ext cx="2560320" cy="274320"/>
          </a:xfrm>
          <a:prstGeom prst="rect">
            <a:avLst/>
          </a:prstGeom>
          <a:noFill/>
          <a:ln/>
        </p:spPr>
        <p:txBody>
          <a:bodyPr wrap="square" lIns="0" tIns="0" rIns="0" bIns="0" rtlCol="0" anchor="t"/>
          <a:lstStyle/>
          <a:p>
            <a:pPr algn="l" indent="0" marL="0">
              <a:buNone/>
            </a:pPr>
            <a:r>
              <a:rPr lang="en-US" sz="1200" dirty="0">
                <a:solidFill>
                  <a:srgbClr val="F6EBD8"/>
                </a:solidFill>
                <a:latin typeface="Calibri" pitchFamily="34" charset="0"/>
                <a:ea typeface="Calibri" pitchFamily="34" charset="-122"/>
                <a:cs typeface="Calibri" pitchFamily="34" charset="-120"/>
              </a:rPr>
              <a:t>Measured results</a:t>
            </a:r>
            <a:endParaRPr lang="en-US" sz="1200" dirty="0"/>
          </a:p>
        </p:txBody>
      </p:sp>
      <p:sp>
        <p:nvSpPr>
          <p:cNvPr id="20" name="Shape 16"/>
          <p:cNvSpPr/>
          <p:nvPr/>
        </p:nvSpPr>
        <p:spPr>
          <a:xfrm>
            <a:off x="11361420" y="5710428"/>
            <a:ext cx="137160" cy="137160"/>
          </a:xfrm>
          <a:prstGeom prst="ellipse">
            <a:avLst/>
          </a:prstGeom>
          <a:solidFill>
            <a:srgbClr val="B9977B"/>
          </a:solidFill>
          <a:ln/>
        </p:spPr>
      </p:sp>
      <p:sp>
        <p:nvSpPr>
          <p:cNvPr id="21" name="Text 17"/>
          <p:cNvSpPr/>
          <p:nvPr/>
        </p:nvSpPr>
        <p:spPr>
          <a:xfrm>
            <a:off x="8961120" y="5303520"/>
            <a:ext cx="2560320" cy="274320"/>
          </a:xfrm>
          <a:prstGeom prst="rect">
            <a:avLst/>
          </a:prstGeom>
          <a:noFill/>
          <a:ln/>
        </p:spPr>
        <p:txBody>
          <a:bodyPr wrap="square" lIns="0" tIns="0" rIns="0" bIns="0" rtlCol="0" anchor="t"/>
          <a:lstStyle/>
          <a:p>
            <a:pPr algn="r" indent="0" marL="0">
              <a:buNone/>
            </a:pPr>
            <a:r>
              <a:rPr lang="en-US" sz="1000" b="1" spc="140" kern="0" dirty="0">
                <a:solidFill>
                  <a:srgbClr val="B9977B"/>
                </a:solidFill>
                <a:latin typeface="Calibri" pitchFamily="34" charset="0"/>
                <a:ea typeface="Calibri" pitchFamily="34" charset="-122"/>
                <a:cs typeface="Calibri" pitchFamily="34" charset="-120"/>
              </a:rPr>
              <a:t>2027</a:t>
            </a:r>
            <a:endParaRPr lang="en-US" sz="1000" dirty="0"/>
          </a:p>
        </p:txBody>
      </p:sp>
      <p:sp>
        <p:nvSpPr>
          <p:cNvPr id="22" name="Text 18"/>
          <p:cNvSpPr/>
          <p:nvPr/>
        </p:nvSpPr>
        <p:spPr>
          <a:xfrm>
            <a:off x="8961120" y="5888736"/>
            <a:ext cx="2560320" cy="274320"/>
          </a:xfrm>
          <a:prstGeom prst="rect">
            <a:avLst/>
          </a:prstGeom>
          <a:noFill/>
          <a:ln/>
        </p:spPr>
        <p:txBody>
          <a:bodyPr wrap="square" lIns="0" tIns="0" rIns="0" bIns="0" rtlCol="0" anchor="t"/>
          <a:lstStyle/>
          <a:p>
            <a:pPr algn="r" indent="0" marL="0">
              <a:buNone/>
            </a:pPr>
            <a:r>
              <a:rPr lang="en-US" sz="1200" dirty="0">
                <a:solidFill>
                  <a:srgbClr val="F6EBD8"/>
                </a:solidFill>
                <a:latin typeface="Calibri" pitchFamily="34" charset="0"/>
                <a:ea typeface="Calibri" pitchFamily="34" charset="-122"/>
                <a:cs typeface="Calibri" pitchFamily="34" charset="-120"/>
              </a:rPr>
              <a:t>Provincial rollout</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800" advClick="1">
        <p:fade/>
      </p:transition>
    </mc:Choice>
    <mc:Fallback>
      <p:transition spd="slow" advClick="1">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58368" y="384048"/>
            <a:ext cx="10881360" cy="713232"/>
          </a:xfrm>
          <a:prstGeom prst="rect">
            <a:avLst/>
          </a:prstGeom>
          <a:noFill/>
          <a:ln/>
        </p:spPr>
        <p:txBody>
          <a:bodyPr wrap="square" lIns="0" tIns="0" rIns="0" bIns="0" rtlCol="0" anchor="ctr"/>
          <a:lstStyle/>
          <a:p>
            <a:pPr indent="0" marL="0">
              <a:buNone/>
            </a:pPr>
            <a:r>
              <a:rPr lang="en-US" sz="3300" b="1" dirty="0">
                <a:solidFill>
                  <a:srgbClr val="2A1310"/>
                </a:solidFill>
                <a:latin typeface="Bookman Old Style" pitchFamily="34" charset="0"/>
                <a:ea typeface="Bookman Old Style" pitchFamily="34" charset="-122"/>
                <a:cs typeface="Bookman Old Style" pitchFamily="34" charset="-120"/>
              </a:rPr>
              <a:t>Why us, not them</a:t>
            </a:r>
            <a:endParaRPr lang="en-US" sz="3300" dirty="0"/>
          </a:p>
        </p:txBody>
      </p:sp>
      <p:sp>
        <p:nvSpPr>
          <p:cNvPr id="3" name="Shape 1"/>
          <p:cNvSpPr/>
          <p:nvPr/>
        </p:nvSpPr>
        <p:spPr>
          <a:xfrm>
            <a:off x="2907792" y="1225296"/>
            <a:ext cx="3072384" cy="4864608"/>
          </a:xfrm>
          <a:prstGeom prst="roundRect">
            <a:avLst>
              <a:gd name="adj" fmla="val 3571"/>
            </a:avLst>
          </a:prstGeom>
          <a:solidFill>
            <a:srgbClr val="F7E4C4"/>
          </a:solidFill>
          <a:ln/>
        </p:spPr>
      </p:sp>
      <p:sp>
        <p:nvSpPr>
          <p:cNvPr id="4" name="Shape 2"/>
          <p:cNvSpPr/>
          <p:nvPr/>
        </p:nvSpPr>
        <p:spPr>
          <a:xfrm>
            <a:off x="5961888" y="1225296"/>
            <a:ext cx="3072384" cy="4864608"/>
          </a:xfrm>
          <a:prstGeom prst="roundRect">
            <a:avLst>
              <a:gd name="adj" fmla="val 3571"/>
            </a:avLst>
          </a:prstGeom>
          <a:solidFill>
            <a:srgbClr val="FFFFFF">
              <a:alpha val="38000"/>
            </a:srgbClr>
          </a:solidFill>
          <a:ln/>
        </p:spPr>
      </p:sp>
      <p:sp>
        <p:nvSpPr>
          <p:cNvPr id="5" name="Shape 3"/>
          <p:cNvSpPr/>
          <p:nvPr/>
        </p:nvSpPr>
        <p:spPr>
          <a:xfrm>
            <a:off x="9015984" y="1225296"/>
            <a:ext cx="2615184" cy="4864608"/>
          </a:xfrm>
          <a:prstGeom prst="roundRect">
            <a:avLst>
              <a:gd name="adj" fmla="val 4196"/>
            </a:avLst>
          </a:prstGeom>
          <a:solidFill>
            <a:srgbClr val="FFFFFF">
              <a:alpha val="38000"/>
            </a:srgbClr>
          </a:solidFill>
          <a:ln/>
        </p:spPr>
      </p:sp>
      <p:sp>
        <p:nvSpPr>
          <p:cNvPr id="6" name="Text 4"/>
          <p:cNvSpPr/>
          <p:nvPr/>
        </p:nvSpPr>
        <p:spPr>
          <a:xfrm>
            <a:off x="2999232" y="1316736"/>
            <a:ext cx="2889504" cy="512064"/>
          </a:xfrm>
          <a:prstGeom prst="rect">
            <a:avLst/>
          </a:prstGeom>
          <a:noFill/>
          <a:ln/>
        </p:spPr>
        <p:txBody>
          <a:bodyPr wrap="square" lIns="0" tIns="0" rIns="0" bIns="0" rtlCol="0" anchor="ctr"/>
          <a:lstStyle/>
          <a:p>
            <a:pPr algn="ctr" indent="0" marL="0">
              <a:buNone/>
            </a:pPr>
            <a:r>
              <a:rPr lang="en-US" sz="1100" b="1" spc="140" kern="0" dirty="0">
                <a:solidFill>
                  <a:srgbClr val="8A3E12"/>
                </a:solidFill>
                <a:latin typeface="Calibri" pitchFamily="34" charset="0"/>
                <a:ea typeface="Calibri" pitchFamily="34" charset="-122"/>
                <a:cs typeface="Calibri" pitchFamily="34" charset="-120"/>
              </a:rPr>
              <a:t>CORTEX SYNAPSE</a:t>
            </a:r>
            <a:endParaRPr lang="en-US" sz="1100" dirty="0"/>
          </a:p>
        </p:txBody>
      </p:sp>
      <p:sp>
        <p:nvSpPr>
          <p:cNvPr id="7" name="Text 5"/>
          <p:cNvSpPr/>
          <p:nvPr/>
        </p:nvSpPr>
        <p:spPr>
          <a:xfrm>
            <a:off x="6053328" y="1316736"/>
            <a:ext cx="2889504" cy="512064"/>
          </a:xfrm>
          <a:prstGeom prst="rect">
            <a:avLst/>
          </a:prstGeom>
          <a:noFill/>
          <a:ln/>
        </p:spPr>
        <p:txBody>
          <a:bodyPr wrap="square" lIns="0" tIns="0" rIns="0" bIns="0" rtlCol="0" anchor="ctr"/>
          <a:lstStyle/>
          <a:p>
            <a:pPr algn="ctr" indent="0" marL="0">
              <a:buNone/>
            </a:pPr>
            <a:r>
              <a:rPr lang="en-US" sz="1100" b="1" spc="140" kern="0" dirty="0">
                <a:solidFill>
                  <a:srgbClr val="6E5347"/>
                </a:solidFill>
                <a:latin typeface="Calibri" pitchFamily="34" charset="0"/>
                <a:ea typeface="Calibri" pitchFamily="34" charset="-122"/>
                <a:cs typeface="Calibri" pitchFamily="34" charset="-120"/>
              </a:rPr>
              <a:t>GLOBAL PLATFORMS</a:t>
            </a:r>
            <a:endParaRPr lang="en-US" sz="1100" dirty="0"/>
          </a:p>
        </p:txBody>
      </p:sp>
      <p:sp>
        <p:nvSpPr>
          <p:cNvPr id="8" name="Text 6"/>
          <p:cNvSpPr/>
          <p:nvPr/>
        </p:nvSpPr>
        <p:spPr>
          <a:xfrm>
            <a:off x="9107424" y="1316736"/>
            <a:ext cx="2432304" cy="512064"/>
          </a:xfrm>
          <a:prstGeom prst="rect">
            <a:avLst/>
          </a:prstGeom>
          <a:noFill/>
          <a:ln/>
        </p:spPr>
        <p:txBody>
          <a:bodyPr wrap="square" lIns="0" tIns="0" rIns="0" bIns="0" rtlCol="0" anchor="ctr"/>
          <a:lstStyle/>
          <a:p>
            <a:pPr algn="ctr" indent="0" marL="0">
              <a:buNone/>
            </a:pPr>
            <a:r>
              <a:rPr lang="en-US" sz="1100" b="1" spc="140" kern="0" dirty="0">
                <a:solidFill>
                  <a:srgbClr val="6E5347"/>
                </a:solidFill>
                <a:latin typeface="Calibri" pitchFamily="34" charset="0"/>
                <a:ea typeface="Calibri" pitchFamily="34" charset="-122"/>
                <a:cs typeface="Calibri" pitchFamily="34" charset="-120"/>
              </a:rPr>
              <a:t>PRIVATE TUTOR</a:t>
            </a:r>
            <a:endParaRPr lang="en-US" sz="1100" dirty="0"/>
          </a:p>
        </p:txBody>
      </p:sp>
      <p:sp>
        <p:nvSpPr>
          <p:cNvPr id="9" name="Text 7"/>
          <p:cNvSpPr/>
          <p:nvPr/>
        </p:nvSpPr>
        <p:spPr>
          <a:xfrm>
            <a:off x="658368" y="1883664"/>
            <a:ext cx="2194560" cy="914400"/>
          </a:xfrm>
          <a:prstGeom prst="rect">
            <a:avLst/>
          </a:prstGeom>
          <a:noFill/>
          <a:ln/>
        </p:spPr>
        <p:txBody>
          <a:bodyPr wrap="square" lIns="0" tIns="0" rIns="0" bIns="0" rtlCol="0" anchor="ctr"/>
          <a:lstStyle/>
          <a:p>
            <a:pPr indent="0" marL="0">
              <a:buNone/>
            </a:pPr>
            <a:r>
              <a:rPr lang="en-US" sz="1350" b="1" dirty="0">
                <a:solidFill>
                  <a:srgbClr val="2A1310"/>
                </a:solidFill>
                <a:latin typeface="Bookman Old Style" pitchFamily="34" charset="0"/>
                <a:ea typeface="Bookman Old Style" pitchFamily="34" charset="-122"/>
                <a:cs typeface="Bookman Old Style" pitchFamily="34" charset="-120"/>
              </a:rPr>
              <a:t>Curriculum</a:t>
            </a:r>
            <a:endParaRPr lang="en-US" sz="1350" dirty="0"/>
          </a:p>
        </p:txBody>
      </p:sp>
      <p:sp>
        <p:nvSpPr>
          <p:cNvPr id="10" name="Shape 8"/>
          <p:cNvSpPr/>
          <p:nvPr/>
        </p:nvSpPr>
        <p:spPr>
          <a:xfrm>
            <a:off x="2999232" y="1883664"/>
            <a:ext cx="2889504" cy="914400"/>
          </a:xfrm>
          <a:prstGeom prst="roundRect">
            <a:avLst>
              <a:gd name="adj" fmla="val 12000"/>
            </a:avLst>
          </a:prstGeom>
          <a:solidFill>
            <a:srgbClr val="FFFCF5"/>
          </a:solidFill>
          <a:ln w="12700">
            <a:solidFill>
              <a:srgbClr val="E08A2E"/>
            </a:solidFill>
            <a:prstDash val="solid"/>
          </a:ln>
          <a:effectLst>
            <a:outerShdw sx="100000" sy="100000" kx="0" ky="0" algn="bl" rotWithShape="0" blurRad="101600" dist="25400" dir="5400000">
              <a:srgbClr val="8A6A4A">
                <a:alpha val="18000"/>
              </a:srgbClr>
            </a:outerShdw>
          </a:effectLst>
        </p:spPr>
      </p:sp>
      <p:sp>
        <p:nvSpPr>
          <p:cNvPr id="11" name="Text 9"/>
          <p:cNvSpPr/>
          <p:nvPr/>
        </p:nvSpPr>
        <p:spPr>
          <a:xfrm>
            <a:off x="3145536" y="1883664"/>
            <a:ext cx="2596896" cy="914400"/>
          </a:xfrm>
          <a:prstGeom prst="rect">
            <a:avLst/>
          </a:prstGeom>
          <a:noFill/>
          <a:ln/>
        </p:spPr>
        <p:txBody>
          <a:bodyPr wrap="square" lIns="0" tIns="0" rIns="0" bIns="0" rtlCol="0" anchor="ctr"/>
          <a:lstStyle/>
          <a:p>
            <a:pPr algn="ctr" indent="0" marL="0">
              <a:lnSpc>
                <a:spcPts val="1600"/>
              </a:lnSpc>
              <a:buNone/>
            </a:pPr>
            <a:r>
              <a:rPr lang="en-US" sz="1200" b="1" dirty="0">
                <a:solidFill>
                  <a:srgbClr val="2A1310"/>
                </a:solidFill>
                <a:latin typeface="Calibri" pitchFamily="34" charset="0"/>
                <a:ea typeface="Calibri" pitchFamily="34" charset="-122"/>
                <a:cs typeface="Calibri" pitchFamily="34" charset="-120"/>
              </a:rPr>
              <a:t>CAPS &amp; NATED, home-grown</a:t>
            </a:r>
            <a:endParaRPr lang="en-US" sz="1200" dirty="0"/>
          </a:p>
        </p:txBody>
      </p:sp>
      <p:sp>
        <p:nvSpPr>
          <p:cNvPr id="12" name="Text 10"/>
          <p:cNvSpPr/>
          <p:nvPr/>
        </p:nvSpPr>
        <p:spPr>
          <a:xfrm>
            <a:off x="6199632" y="1883664"/>
            <a:ext cx="2596896" cy="914400"/>
          </a:xfrm>
          <a:prstGeom prst="rect">
            <a:avLst/>
          </a:prstGeom>
          <a:noFill/>
          <a:ln/>
        </p:spPr>
        <p:txBody>
          <a:bodyPr wrap="square" lIns="0" tIns="0" rIns="0" bIns="0" rtlCol="0" anchor="ctr"/>
          <a:lstStyle/>
          <a:p>
            <a:pPr algn="ctr" indent="0" marL="0">
              <a:lnSpc>
                <a:spcPts val="1600"/>
              </a:lnSpc>
              <a:buNone/>
            </a:pPr>
            <a:r>
              <a:rPr lang="en-US" sz="1200" dirty="0">
                <a:solidFill>
                  <a:srgbClr val="6E5347"/>
                </a:solidFill>
                <a:latin typeface="Calibri" pitchFamily="34" charset="0"/>
                <a:ea typeface="Calibri" pitchFamily="34" charset="-122"/>
                <a:cs typeface="Calibri" pitchFamily="34" charset="-120"/>
              </a:rPr>
              <a:t>US-centric, adapted</a:t>
            </a:r>
            <a:endParaRPr lang="en-US" sz="1200" dirty="0"/>
          </a:p>
        </p:txBody>
      </p:sp>
      <p:sp>
        <p:nvSpPr>
          <p:cNvPr id="13" name="Text 11"/>
          <p:cNvSpPr/>
          <p:nvPr/>
        </p:nvSpPr>
        <p:spPr>
          <a:xfrm>
            <a:off x="9253728" y="1883664"/>
            <a:ext cx="2139696" cy="914400"/>
          </a:xfrm>
          <a:prstGeom prst="rect">
            <a:avLst/>
          </a:prstGeom>
          <a:noFill/>
          <a:ln/>
        </p:spPr>
        <p:txBody>
          <a:bodyPr wrap="square" lIns="0" tIns="0" rIns="0" bIns="0" rtlCol="0" anchor="ctr"/>
          <a:lstStyle/>
          <a:p>
            <a:pPr algn="ctr" indent="0" marL="0">
              <a:lnSpc>
                <a:spcPts val="1600"/>
              </a:lnSpc>
              <a:buNone/>
            </a:pPr>
            <a:r>
              <a:rPr lang="en-US" sz="1200" dirty="0">
                <a:solidFill>
                  <a:srgbClr val="6E5347"/>
                </a:solidFill>
                <a:latin typeface="Calibri" pitchFamily="34" charset="0"/>
                <a:ea typeface="Calibri" pitchFamily="34" charset="-122"/>
                <a:cs typeface="Calibri" pitchFamily="34" charset="-120"/>
              </a:rPr>
              <a:t>Local, tutor-dependent</a:t>
            </a:r>
            <a:endParaRPr lang="en-US" sz="1200" dirty="0"/>
          </a:p>
        </p:txBody>
      </p:sp>
      <p:sp>
        <p:nvSpPr>
          <p:cNvPr id="14" name="Text 12"/>
          <p:cNvSpPr/>
          <p:nvPr/>
        </p:nvSpPr>
        <p:spPr>
          <a:xfrm>
            <a:off x="658368" y="2944368"/>
            <a:ext cx="2194560" cy="914400"/>
          </a:xfrm>
          <a:prstGeom prst="rect">
            <a:avLst/>
          </a:prstGeom>
          <a:noFill/>
          <a:ln/>
        </p:spPr>
        <p:txBody>
          <a:bodyPr wrap="square" lIns="0" tIns="0" rIns="0" bIns="0" rtlCol="0" anchor="ctr"/>
          <a:lstStyle/>
          <a:p>
            <a:pPr indent="0" marL="0">
              <a:buNone/>
            </a:pPr>
            <a:r>
              <a:rPr lang="en-US" sz="1350" b="1" dirty="0">
                <a:solidFill>
                  <a:srgbClr val="2A1310"/>
                </a:solidFill>
                <a:latin typeface="Bookman Old Style" pitchFamily="34" charset="0"/>
                <a:ea typeface="Bookman Old Style" pitchFamily="34" charset="-122"/>
                <a:cs typeface="Bookman Old Style" pitchFamily="34" charset="-120"/>
              </a:rPr>
              <a:t>Cost to a family</a:t>
            </a:r>
            <a:endParaRPr lang="en-US" sz="1350" dirty="0"/>
          </a:p>
        </p:txBody>
      </p:sp>
      <p:sp>
        <p:nvSpPr>
          <p:cNvPr id="15" name="Shape 13"/>
          <p:cNvSpPr/>
          <p:nvPr/>
        </p:nvSpPr>
        <p:spPr>
          <a:xfrm>
            <a:off x="2999232" y="2944368"/>
            <a:ext cx="2889504" cy="914400"/>
          </a:xfrm>
          <a:prstGeom prst="roundRect">
            <a:avLst>
              <a:gd name="adj" fmla="val 12000"/>
            </a:avLst>
          </a:prstGeom>
          <a:solidFill>
            <a:srgbClr val="FFFCF5"/>
          </a:solidFill>
          <a:ln w="12700">
            <a:solidFill>
              <a:srgbClr val="E08A2E"/>
            </a:solidFill>
            <a:prstDash val="solid"/>
          </a:ln>
          <a:effectLst>
            <a:outerShdw sx="100000" sy="100000" kx="0" ky="0" algn="bl" rotWithShape="0" blurRad="101600" dist="25400" dir="5400000">
              <a:srgbClr val="8A6A4A">
                <a:alpha val="18000"/>
              </a:srgbClr>
            </a:outerShdw>
          </a:effectLst>
        </p:spPr>
      </p:sp>
      <p:sp>
        <p:nvSpPr>
          <p:cNvPr id="16" name="Text 14"/>
          <p:cNvSpPr/>
          <p:nvPr/>
        </p:nvSpPr>
        <p:spPr>
          <a:xfrm>
            <a:off x="3145536" y="2944368"/>
            <a:ext cx="2596896" cy="914400"/>
          </a:xfrm>
          <a:prstGeom prst="rect">
            <a:avLst/>
          </a:prstGeom>
          <a:noFill/>
          <a:ln/>
        </p:spPr>
        <p:txBody>
          <a:bodyPr wrap="square" lIns="0" tIns="0" rIns="0" bIns="0" rtlCol="0" anchor="ctr"/>
          <a:lstStyle/>
          <a:p>
            <a:pPr algn="ctr" indent="0" marL="0">
              <a:lnSpc>
                <a:spcPts val="1600"/>
              </a:lnSpc>
              <a:buNone/>
            </a:pPr>
            <a:r>
              <a:rPr lang="en-US" sz="1200" b="1" dirty="0">
                <a:solidFill>
                  <a:srgbClr val="2A1310"/>
                </a:solidFill>
                <a:latin typeface="Calibri" pitchFamily="34" charset="0"/>
                <a:ea typeface="Calibri" pitchFamily="34" charset="-122"/>
                <a:cs typeface="Calibri" pitchFamily="34" charset="-120"/>
              </a:rPr>
              <a:t>Low monthly subscription</a:t>
            </a:r>
            <a:endParaRPr lang="en-US" sz="1200" dirty="0"/>
          </a:p>
        </p:txBody>
      </p:sp>
      <p:sp>
        <p:nvSpPr>
          <p:cNvPr id="17" name="Text 15"/>
          <p:cNvSpPr/>
          <p:nvPr/>
        </p:nvSpPr>
        <p:spPr>
          <a:xfrm>
            <a:off x="6199632" y="2944368"/>
            <a:ext cx="2596896" cy="914400"/>
          </a:xfrm>
          <a:prstGeom prst="rect">
            <a:avLst/>
          </a:prstGeom>
          <a:noFill/>
          <a:ln/>
        </p:spPr>
        <p:txBody>
          <a:bodyPr wrap="square" lIns="0" tIns="0" rIns="0" bIns="0" rtlCol="0" anchor="ctr"/>
          <a:lstStyle/>
          <a:p>
            <a:pPr algn="ctr" indent="0" marL="0">
              <a:lnSpc>
                <a:spcPts val="1600"/>
              </a:lnSpc>
              <a:buNone/>
            </a:pPr>
            <a:r>
              <a:rPr lang="en-US" sz="1200" dirty="0">
                <a:solidFill>
                  <a:srgbClr val="6E5347"/>
                </a:solidFill>
                <a:latin typeface="Calibri" pitchFamily="34" charset="0"/>
                <a:ea typeface="Calibri" pitchFamily="34" charset="-122"/>
                <a:cs typeface="Calibri" pitchFamily="34" charset="-120"/>
              </a:rPr>
              <a:t>Free, but off-syllabus</a:t>
            </a:r>
            <a:endParaRPr lang="en-US" sz="1200" dirty="0"/>
          </a:p>
        </p:txBody>
      </p:sp>
      <p:sp>
        <p:nvSpPr>
          <p:cNvPr id="18" name="Text 16"/>
          <p:cNvSpPr/>
          <p:nvPr/>
        </p:nvSpPr>
        <p:spPr>
          <a:xfrm>
            <a:off x="9253728" y="2944368"/>
            <a:ext cx="2139696" cy="914400"/>
          </a:xfrm>
          <a:prstGeom prst="rect">
            <a:avLst/>
          </a:prstGeom>
          <a:noFill/>
          <a:ln/>
        </p:spPr>
        <p:txBody>
          <a:bodyPr wrap="square" lIns="0" tIns="0" rIns="0" bIns="0" rtlCol="0" anchor="ctr"/>
          <a:lstStyle/>
          <a:p>
            <a:pPr algn="ctr" indent="0" marL="0">
              <a:lnSpc>
                <a:spcPts val="1600"/>
              </a:lnSpc>
              <a:buNone/>
            </a:pPr>
            <a:r>
              <a:rPr lang="en-US" sz="1200" dirty="0">
                <a:solidFill>
                  <a:srgbClr val="6E5347"/>
                </a:solidFill>
                <a:latin typeface="Calibri" pitchFamily="34" charset="0"/>
                <a:ea typeface="Calibri" pitchFamily="34" charset="-122"/>
                <a:cs typeface="Calibri" pitchFamily="34" charset="-120"/>
              </a:rPr>
              <a:t>R150–450 per hour</a:t>
            </a:r>
            <a:endParaRPr lang="en-US" sz="1200" dirty="0"/>
          </a:p>
        </p:txBody>
      </p:sp>
      <p:sp>
        <p:nvSpPr>
          <p:cNvPr id="19" name="Text 17"/>
          <p:cNvSpPr/>
          <p:nvPr/>
        </p:nvSpPr>
        <p:spPr>
          <a:xfrm>
            <a:off x="658368" y="4005072"/>
            <a:ext cx="2194560" cy="914400"/>
          </a:xfrm>
          <a:prstGeom prst="rect">
            <a:avLst/>
          </a:prstGeom>
          <a:noFill/>
          <a:ln/>
        </p:spPr>
        <p:txBody>
          <a:bodyPr wrap="square" lIns="0" tIns="0" rIns="0" bIns="0" rtlCol="0" anchor="ctr"/>
          <a:lstStyle/>
          <a:p>
            <a:pPr indent="0" marL="0">
              <a:buNone/>
            </a:pPr>
            <a:r>
              <a:rPr lang="en-US" sz="1350" b="1" dirty="0">
                <a:solidFill>
                  <a:srgbClr val="2A1310"/>
                </a:solidFill>
                <a:latin typeface="Bookman Old Style" pitchFamily="34" charset="0"/>
                <a:ea typeface="Bookman Old Style" pitchFamily="34" charset="-122"/>
                <a:cs typeface="Bookman Old Style" pitchFamily="34" charset="-120"/>
              </a:rPr>
              <a:t>Available when</a:t>
            </a:r>
            <a:endParaRPr lang="en-US" sz="1350" dirty="0"/>
          </a:p>
        </p:txBody>
      </p:sp>
      <p:sp>
        <p:nvSpPr>
          <p:cNvPr id="20" name="Shape 18"/>
          <p:cNvSpPr/>
          <p:nvPr/>
        </p:nvSpPr>
        <p:spPr>
          <a:xfrm>
            <a:off x="2999232" y="4005072"/>
            <a:ext cx="2889504" cy="914400"/>
          </a:xfrm>
          <a:prstGeom prst="roundRect">
            <a:avLst>
              <a:gd name="adj" fmla="val 12000"/>
            </a:avLst>
          </a:prstGeom>
          <a:solidFill>
            <a:srgbClr val="FFFCF5"/>
          </a:solidFill>
          <a:ln w="12700">
            <a:solidFill>
              <a:srgbClr val="E08A2E"/>
            </a:solidFill>
            <a:prstDash val="solid"/>
          </a:ln>
          <a:effectLst>
            <a:outerShdw sx="100000" sy="100000" kx="0" ky="0" algn="bl" rotWithShape="0" blurRad="101600" dist="25400" dir="5400000">
              <a:srgbClr val="8A6A4A">
                <a:alpha val="18000"/>
              </a:srgbClr>
            </a:outerShdw>
          </a:effectLst>
        </p:spPr>
      </p:sp>
      <p:sp>
        <p:nvSpPr>
          <p:cNvPr id="21" name="Text 19"/>
          <p:cNvSpPr/>
          <p:nvPr/>
        </p:nvSpPr>
        <p:spPr>
          <a:xfrm>
            <a:off x="3145536" y="4005072"/>
            <a:ext cx="2596896" cy="914400"/>
          </a:xfrm>
          <a:prstGeom prst="rect">
            <a:avLst/>
          </a:prstGeom>
          <a:noFill/>
          <a:ln/>
        </p:spPr>
        <p:txBody>
          <a:bodyPr wrap="square" lIns="0" tIns="0" rIns="0" bIns="0" rtlCol="0" anchor="ctr"/>
          <a:lstStyle/>
          <a:p>
            <a:pPr algn="ctr" indent="0" marL="0">
              <a:lnSpc>
                <a:spcPts val="1600"/>
              </a:lnSpc>
              <a:buNone/>
            </a:pPr>
            <a:r>
              <a:rPr lang="en-US" sz="1200" b="1" dirty="0">
                <a:solidFill>
                  <a:srgbClr val="2A1310"/>
                </a:solidFill>
                <a:latin typeface="Calibri" pitchFamily="34" charset="0"/>
                <a:ea typeface="Calibri" pitchFamily="34" charset="-122"/>
                <a:cs typeface="Calibri" pitchFamily="34" charset="-120"/>
              </a:rPr>
              <a:t>Any hour, adapts to the learner</a:t>
            </a:r>
            <a:endParaRPr lang="en-US" sz="1200" dirty="0"/>
          </a:p>
        </p:txBody>
      </p:sp>
      <p:sp>
        <p:nvSpPr>
          <p:cNvPr id="22" name="Text 20"/>
          <p:cNvSpPr/>
          <p:nvPr/>
        </p:nvSpPr>
        <p:spPr>
          <a:xfrm>
            <a:off x="6199632" y="4005072"/>
            <a:ext cx="2596896" cy="914400"/>
          </a:xfrm>
          <a:prstGeom prst="rect">
            <a:avLst/>
          </a:prstGeom>
          <a:noFill/>
          <a:ln/>
        </p:spPr>
        <p:txBody>
          <a:bodyPr wrap="square" lIns="0" tIns="0" rIns="0" bIns="0" rtlCol="0" anchor="ctr"/>
          <a:lstStyle/>
          <a:p>
            <a:pPr algn="ctr" indent="0" marL="0">
              <a:lnSpc>
                <a:spcPts val="1600"/>
              </a:lnSpc>
              <a:buNone/>
            </a:pPr>
            <a:r>
              <a:rPr lang="en-US" sz="1200" dirty="0">
                <a:solidFill>
                  <a:srgbClr val="6E5347"/>
                </a:solidFill>
                <a:latin typeface="Calibri" pitchFamily="34" charset="0"/>
                <a:ea typeface="Calibri" pitchFamily="34" charset="-122"/>
                <a:cs typeface="Calibri" pitchFamily="34" charset="-120"/>
              </a:rPr>
              <a:t>Any hour, fixed video pace</a:t>
            </a:r>
            <a:endParaRPr lang="en-US" sz="1200" dirty="0"/>
          </a:p>
        </p:txBody>
      </p:sp>
      <p:sp>
        <p:nvSpPr>
          <p:cNvPr id="23" name="Text 21"/>
          <p:cNvSpPr/>
          <p:nvPr/>
        </p:nvSpPr>
        <p:spPr>
          <a:xfrm>
            <a:off x="9253728" y="4005072"/>
            <a:ext cx="2139696" cy="914400"/>
          </a:xfrm>
          <a:prstGeom prst="rect">
            <a:avLst/>
          </a:prstGeom>
          <a:noFill/>
          <a:ln/>
        </p:spPr>
        <p:txBody>
          <a:bodyPr wrap="square" lIns="0" tIns="0" rIns="0" bIns="0" rtlCol="0" anchor="ctr"/>
          <a:lstStyle/>
          <a:p>
            <a:pPr algn="ctr" indent="0" marL="0">
              <a:lnSpc>
                <a:spcPts val="1600"/>
              </a:lnSpc>
              <a:buNone/>
            </a:pPr>
            <a:r>
              <a:rPr lang="en-US" sz="1200" dirty="0">
                <a:solidFill>
                  <a:srgbClr val="6E5347"/>
                </a:solidFill>
                <a:latin typeface="Calibri" pitchFamily="34" charset="0"/>
                <a:ea typeface="Calibri" pitchFamily="34" charset="-122"/>
                <a:cs typeface="Calibri" pitchFamily="34" charset="-120"/>
              </a:rPr>
              <a:t>Booked sessions only</a:t>
            </a:r>
            <a:endParaRPr lang="en-US" sz="1200" dirty="0"/>
          </a:p>
        </p:txBody>
      </p:sp>
      <p:sp>
        <p:nvSpPr>
          <p:cNvPr id="24" name="Text 22"/>
          <p:cNvSpPr/>
          <p:nvPr/>
        </p:nvSpPr>
        <p:spPr>
          <a:xfrm>
            <a:off x="658368" y="5065776"/>
            <a:ext cx="2194560" cy="914400"/>
          </a:xfrm>
          <a:prstGeom prst="rect">
            <a:avLst/>
          </a:prstGeom>
          <a:noFill/>
          <a:ln/>
        </p:spPr>
        <p:txBody>
          <a:bodyPr wrap="square" lIns="0" tIns="0" rIns="0" bIns="0" rtlCol="0" anchor="ctr"/>
          <a:lstStyle/>
          <a:p>
            <a:pPr indent="0" marL="0">
              <a:buNone/>
            </a:pPr>
            <a:r>
              <a:rPr lang="en-US" sz="1350" b="1" dirty="0">
                <a:solidFill>
                  <a:srgbClr val="2A1310"/>
                </a:solidFill>
                <a:latin typeface="Bookman Old Style" pitchFamily="34" charset="0"/>
                <a:ea typeface="Bookman Old Style" pitchFamily="34" charset="-122"/>
                <a:cs typeface="Bookman Old Style" pitchFamily="34" charset="-120"/>
              </a:rPr>
              <a:t>Exam practice</a:t>
            </a:r>
            <a:endParaRPr lang="en-US" sz="1350" dirty="0"/>
          </a:p>
        </p:txBody>
      </p:sp>
      <p:sp>
        <p:nvSpPr>
          <p:cNvPr id="25" name="Shape 23"/>
          <p:cNvSpPr/>
          <p:nvPr/>
        </p:nvSpPr>
        <p:spPr>
          <a:xfrm>
            <a:off x="2999232" y="5065776"/>
            <a:ext cx="2889504" cy="914400"/>
          </a:xfrm>
          <a:prstGeom prst="roundRect">
            <a:avLst>
              <a:gd name="adj" fmla="val 12000"/>
            </a:avLst>
          </a:prstGeom>
          <a:solidFill>
            <a:srgbClr val="FFFCF5"/>
          </a:solidFill>
          <a:ln w="12700">
            <a:solidFill>
              <a:srgbClr val="E08A2E"/>
            </a:solidFill>
            <a:prstDash val="solid"/>
          </a:ln>
          <a:effectLst>
            <a:outerShdw sx="100000" sy="100000" kx="0" ky="0" algn="bl" rotWithShape="0" blurRad="101600" dist="25400" dir="5400000">
              <a:srgbClr val="8A6A4A">
                <a:alpha val="18000"/>
              </a:srgbClr>
            </a:outerShdw>
          </a:effectLst>
        </p:spPr>
      </p:sp>
      <p:sp>
        <p:nvSpPr>
          <p:cNvPr id="26" name="Text 24"/>
          <p:cNvSpPr/>
          <p:nvPr/>
        </p:nvSpPr>
        <p:spPr>
          <a:xfrm>
            <a:off x="3145536" y="5065776"/>
            <a:ext cx="2596896" cy="914400"/>
          </a:xfrm>
          <a:prstGeom prst="rect">
            <a:avLst/>
          </a:prstGeom>
          <a:noFill/>
          <a:ln/>
        </p:spPr>
        <p:txBody>
          <a:bodyPr wrap="square" lIns="0" tIns="0" rIns="0" bIns="0" rtlCol="0" anchor="ctr"/>
          <a:lstStyle/>
          <a:p>
            <a:pPr algn="ctr" indent="0" marL="0">
              <a:lnSpc>
                <a:spcPts val="1600"/>
              </a:lnSpc>
              <a:buNone/>
            </a:pPr>
            <a:r>
              <a:rPr lang="en-US" sz="1200" b="1" dirty="0">
                <a:solidFill>
                  <a:srgbClr val="2A1310"/>
                </a:solidFill>
                <a:latin typeface="Calibri" pitchFamily="34" charset="0"/>
                <a:ea typeface="Calibri" pitchFamily="34" charset="-122"/>
                <a:cs typeface="Calibri" pitchFamily="34" charset="-120"/>
              </a:rPr>
              <a:t>Generated from the learner's own notes</a:t>
            </a:r>
            <a:endParaRPr lang="en-US" sz="1200" dirty="0"/>
          </a:p>
        </p:txBody>
      </p:sp>
      <p:sp>
        <p:nvSpPr>
          <p:cNvPr id="27" name="Text 25"/>
          <p:cNvSpPr/>
          <p:nvPr/>
        </p:nvSpPr>
        <p:spPr>
          <a:xfrm>
            <a:off x="6199632" y="5065776"/>
            <a:ext cx="2596896" cy="914400"/>
          </a:xfrm>
          <a:prstGeom prst="rect">
            <a:avLst/>
          </a:prstGeom>
          <a:noFill/>
          <a:ln/>
        </p:spPr>
        <p:txBody>
          <a:bodyPr wrap="square" lIns="0" tIns="0" rIns="0" bIns="0" rtlCol="0" anchor="ctr"/>
          <a:lstStyle/>
          <a:p>
            <a:pPr algn="ctr" indent="0" marL="0">
              <a:lnSpc>
                <a:spcPts val="1600"/>
              </a:lnSpc>
              <a:buNone/>
            </a:pPr>
            <a:r>
              <a:rPr lang="en-US" sz="1200" dirty="0">
                <a:solidFill>
                  <a:srgbClr val="6E5347"/>
                </a:solidFill>
                <a:latin typeface="Calibri" pitchFamily="34" charset="0"/>
                <a:ea typeface="Calibri" pitchFamily="34" charset="-122"/>
                <a:cs typeface="Calibri" pitchFamily="34" charset="-120"/>
              </a:rPr>
              <a:t>Generic exercises</a:t>
            </a:r>
            <a:endParaRPr lang="en-US" sz="1200" dirty="0"/>
          </a:p>
        </p:txBody>
      </p:sp>
      <p:sp>
        <p:nvSpPr>
          <p:cNvPr id="28" name="Text 26"/>
          <p:cNvSpPr/>
          <p:nvPr/>
        </p:nvSpPr>
        <p:spPr>
          <a:xfrm>
            <a:off x="9253728" y="5065776"/>
            <a:ext cx="2139696" cy="914400"/>
          </a:xfrm>
          <a:prstGeom prst="rect">
            <a:avLst/>
          </a:prstGeom>
          <a:noFill/>
          <a:ln/>
        </p:spPr>
        <p:txBody>
          <a:bodyPr wrap="square" lIns="0" tIns="0" rIns="0" bIns="0" rtlCol="0" anchor="ctr"/>
          <a:lstStyle/>
          <a:p>
            <a:pPr algn="ctr" indent="0" marL="0">
              <a:lnSpc>
                <a:spcPts val="1600"/>
              </a:lnSpc>
              <a:buNone/>
            </a:pPr>
            <a:r>
              <a:rPr lang="en-US" sz="1200" dirty="0">
                <a:solidFill>
                  <a:srgbClr val="6E5347"/>
                </a:solidFill>
                <a:latin typeface="Calibri" pitchFamily="34" charset="0"/>
                <a:ea typeface="Calibri" pitchFamily="34" charset="-122"/>
                <a:cs typeface="Calibri" pitchFamily="34" charset="-120"/>
              </a:rPr>
              <a:t>The tutor's own material</a:t>
            </a:r>
            <a:endParaRPr lang="en-US" sz="1200" dirty="0"/>
          </a:p>
        </p:txBody>
      </p:sp>
      <p:sp>
        <p:nvSpPr>
          <p:cNvPr id="29" name="Text 27"/>
          <p:cNvSpPr/>
          <p:nvPr/>
        </p:nvSpPr>
        <p:spPr>
          <a:xfrm>
            <a:off x="658368" y="6217920"/>
            <a:ext cx="10881360" cy="365760"/>
          </a:xfrm>
          <a:prstGeom prst="rect">
            <a:avLst/>
          </a:prstGeom>
          <a:noFill/>
          <a:ln/>
        </p:spPr>
        <p:txBody>
          <a:bodyPr wrap="square" lIns="0" tIns="0" rIns="0" bIns="0" rtlCol="0" anchor="t"/>
          <a:lstStyle/>
          <a:p>
            <a:pPr indent="0" marL="0">
              <a:buNone/>
            </a:pPr>
            <a:r>
              <a:rPr lang="en-US" sz="1300" i="1" dirty="0">
                <a:solidFill>
                  <a:srgbClr val="6E5347"/>
                </a:solidFill>
                <a:latin typeface="Calibri" pitchFamily="34" charset="0"/>
                <a:ea typeface="Calibri" pitchFamily="34" charset="-122"/>
                <a:cs typeface="Calibri" pitchFamily="34" charset="-120"/>
              </a:rPr>
              <a:t>Only one of the three is South African, affordable, and awake whenever the learner is.</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800" advClick="1">
        <p:fade/>
      </p:transition>
    </mc:Choice>
    <mc:Fallback>
      <p:transition spd="slow" advClick="1">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58368" y="384048"/>
            <a:ext cx="10881360" cy="713232"/>
          </a:xfrm>
          <a:prstGeom prst="rect">
            <a:avLst/>
          </a:prstGeom>
          <a:noFill/>
          <a:ln/>
        </p:spPr>
        <p:txBody>
          <a:bodyPr wrap="square" lIns="0" tIns="0" rIns="0" bIns="0" rtlCol="0" anchor="ctr"/>
          <a:lstStyle/>
          <a:p>
            <a:pPr indent="0" marL="0">
              <a:buNone/>
            </a:pPr>
            <a:r>
              <a:rPr lang="en-US" sz="3300" b="1" dirty="0">
                <a:solidFill>
                  <a:srgbClr val="2A1310"/>
                </a:solidFill>
                <a:latin typeface="Bookman Old Style" pitchFamily="34" charset="0"/>
                <a:ea typeface="Bookman Old Style" pitchFamily="34" charset="-122"/>
                <a:cs typeface="Bookman Old Style" pitchFamily="34" charset="-120"/>
              </a:rPr>
              <a:t>Target market</a:t>
            </a:r>
            <a:endParaRPr lang="en-US" sz="3300" dirty="0"/>
          </a:p>
        </p:txBody>
      </p:sp>
      <p:sp>
        <p:nvSpPr>
          <p:cNvPr id="3" name="Text 1"/>
          <p:cNvSpPr/>
          <p:nvPr/>
        </p:nvSpPr>
        <p:spPr>
          <a:xfrm>
            <a:off x="685800" y="1133856"/>
            <a:ext cx="8229600" cy="402336"/>
          </a:xfrm>
          <a:prstGeom prst="rect">
            <a:avLst/>
          </a:prstGeom>
          <a:noFill/>
          <a:ln/>
        </p:spPr>
        <p:txBody>
          <a:bodyPr wrap="square" lIns="0" tIns="0" rIns="0" bIns="0" rtlCol="0" anchor="t"/>
          <a:lstStyle/>
          <a:p>
            <a:pPr indent="0" marL="0">
              <a:buNone/>
            </a:pPr>
            <a:r>
              <a:rPr lang="en-US" sz="1500" dirty="0">
                <a:solidFill>
                  <a:srgbClr val="6E5347"/>
                </a:solidFill>
                <a:latin typeface="Calibri" pitchFamily="34" charset="0"/>
                <a:ea typeface="Calibri" pitchFamily="34" charset="-122"/>
                <a:cs typeface="Calibri" pitchFamily="34" charset="-120"/>
              </a:rPr>
              <a:t>Where the need is largest, and where we can prove it fastest.</a:t>
            </a:r>
            <a:endParaRPr lang="en-US" sz="1500" dirty="0"/>
          </a:p>
        </p:txBody>
      </p:sp>
      <p:sp>
        <p:nvSpPr>
          <p:cNvPr id="4" name="Shape 2"/>
          <p:cNvSpPr/>
          <p:nvPr/>
        </p:nvSpPr>
        <p:spPr>
          <a:xfrm>
            <a:off x="658368" y="1755648"/>
            <a:ext cx="3529584" cy="2505456"/>
          </a:xfrm>
          <a:prstGeom prst="roundRect">
            <a:avLst>
              <a:gd name="adj" fmla="val 5109"/>
            </a:avLst>
          </a:prstGeom>
          <a:solidFill>
            <a:srgbClr val="FFFCF5"/>
          </a:solidFill>
          <a:ln w="9525">
            <a:solidFill>
              <a:srgbClr val="E6D6BC"/>
            </a:solidFill>
            <a:prstDash val="solid"/>
          </a:ln>
          <a:effectLst>
            <a:outerShdw sx="100000" sy="100000" kx="0" ky="0" algn="bl" rotWithShape="0" blurRad="127000" dist="25400" dir="5400000">
              <a:srgbClr val="8A6A4A">
                <a:alpha val="16000"/>
              </a:srgbClr>
            </a:outerShdw>
          </a:effectLst>
        </p:spPr>
      </p:sp>
      <p:sp>
        <p:nvSpPr>
          <p:cNvPr id="5" name="Text 3"/>
          <p:cNvSpPr/>
          <p:nvPr/>
        </p:nvSpPr>
        <p:spPr>
          <a:xfrm>
            <a:off x="932688" y="2029968"/>
            <a:ext cx="2980944" cy="841248"/>
          </a:xfrm>
          <a:prstGeom prst="rect">
            <a:avLst/>
          </a:prstGeom>
          <a:noFill/>
          <a:ln/>
        </p:spPr>
        <p:txBody>
          <a:bodyPr wrap="square" lIns="0" tIns="0" rIns="0" bIns="0" rtlCol="0" anchor="ctr"/>
          <a:lstStyle/>
          <a:p>
            <a:pPr indent="0" marL="0">
              <a:buNone/>
            </a:pPr>
            <a:r>
              <a:rPr lang="en-US" sz="4000" b="1" dirty="0">
                <a:solidFill>
                  <a:srgbClr val="C05621"/>
                </a:solidFill>
                <a:latin typeface="Bookman Old Style" pitchFamily="34" charset="0"/>
                <a:ea typeface="Bookman Old Style" pitchFamily="34" charset="-122"/>
                <a:cs typeface="Bookman Old Style" pitchFamily="34" charset="-120"/>
              </a:rPr>
              <a:t>900k+</a:t>
            </a:r>
            <a:endParaRPr lang="en-US" sz="4000" dirty="0"/>
          </a:p>
        </p:txBody>
      </p:sp>
      <p:sp>
        <p:nvSpPr>
          <p:cNvPr id="6" name="Text 4"/>
          <p:cNvSpPr/>
          <p:nvPr/>
        </p:nvSpPr>
        <p:spPr>
          <a:xfrm>
            <a:off x="932688" y="2926080"/>
            <a:ext cx="2980944" cy="329184"/>
          </a:xfrm>
          <a:prstGeom prst="rect">
            <a:avLst/>
          </a:prstGeom>
          <a:noFill/>
          <a:ln/>
        </p:spPr>
        <p:txBody>
          <a:bodyPr wrap="square" lIns="0" tIns="0" rIns="0" bIns="0" rtlCol="0" anchor="t"/>
          <a:lstStyle/>
          <a:p>
            <a:pPr indent="0" marL="0">
              <a:buNone/>
            </a:pPr>
            <a:r>
              <a:rPr lang="en-US" sz="1300" b="1" dirty="0">
                <a:solidFill>
                  <a:srgbClr val="2A1310"/>
                </a:solidFill>
                <a:latin typeface="Calibri" pitchFamily="34" charset="0"/>
                <a:ea typeface="Calibri" pitchFamily="34" charset="-122"/>
                <a:cs typeface="Calibri" pitchFamily="34" charset="-120"/>
              </a:rPr>
              <a:t>matric candidates</a:t>
            </a:r>
            <a:endParaRPr lang="en-US" sz="1300" dirty="0"/>
          </a:p>
        </p:txBody>
      </p:sp>
      <p:sp>
        <p:nvSpPr>
          <p:cNvPr id="7" name="Text 5"/>
          <p:cNvSpPr/>
          <p:nvPr/>
        </p:nvSpPr>
        <p:spPr>
          <a:xfrm>
            <a:off x="932688" y="3310128"/>
            <a:ext cx="2962656" cy="786384"/>
          </a:xfrm>
          <a:prstGeom prst="rect">
            <a:avLst/>
          </a:prstGeom>
          <a:noFill/>
          <a:ln/>
        </p:spPr>
        <p:txBody>
          <a:bodyPr wrap="square" lIns="0" tIns="0" rIns="0" bIns="0" rtlCol="0" anchor="t"/>
          <a:lstStyle/>
          <a:p>
            <a:pPr indent="0" marL="0">
              <a:lnSpc>
                <a:spcPts val="1700"/>
              </a:lnSpc>
              <a:buNone/>
            </a:pPr>
            <a:r>
              <a:rPr lang="en-US" sz="1200" dirty="0">
                <a:solidFill>
                  <a:srgbClr val="6E5347"/>
                </a:solidFill>
                <a:latin typeface="Calibri" pitchFamily="34" charset="0"/>
                <a:ea typeface="Calibri" pitchFamily="34" charset="-122"/>
                <a:cs typeface="Calibri" pitchFamily="34" charset="-120"/>
              </a:rPr>
              <a:t>write the NSC every year — the largest cohort in the country's history, and the sharpest moment of need.</a:t>
            </a:r>
            <a:endParaRPr lang="en-US" sz="1200" dirty="0"/>
          </a:p>
        </p:txBody>
      </p:sp>
      <p:sp>
        <p:nvSpPr>
          <p:cNvPr id="8" name="Shape 6"/>
          <p:cNvSpPr/>
          <p:nvPr/>
        </p:nvSpPr>
        <p:spPr>
          <a:xfrm>
            <a:off x="4498848" y="1755648"/>
            <a:ext cx="3529584" cy="2505456"/>
          </a:xfrm>
          <a:prstGeom prst="roundRect">
            <a:avLst>
              <a:gd name="adj" fmla="val 5109"/>
            </a:avLst>
          </a:prstGeom>
          <a:solidFill>
            <a:srgbClr val="FFFCF5"/>
          </a:solidFill>
          <a:ln w="9525">
            <a:solidFill>
              <a:srgbClr val="E6D6BC"/>
            </a:solidFill>
            <a:prstDash val="solid"/>
          </a:ln>
          <a:effectLst>
            <a:outerShdw sx="100000" sy="100000" kx="0" ky="0" algn="bl" rotWithShape="0" blurRad="127000" dist="25400" dir="5400000">
              <a:srgbClr val="8A6A4A">
                <a:alpha val="16000"/>
              </a:srgbClr>
            </a:outerShdw>
          </a:effectLst>
        </p:spPr>
      </p:sp>
      <p:sp>
        <p:nvSpPr>
          <p:cNvPr id="9" name="Text 7"/>
          <p:cNvSpPr/>
          <p:nvPr/>
        </p:nvSpPr>
        <p:spPr>
          <a:xfrm>
            <a:off x="4773168" y="2029968"/>
            <a:ext cx="2980944" cy="841248"/>
          </a:xfrm>
          <a:prstGeom prst="rect">
            <a:avLst/>
          </a:prstGeom>
          <a:noFill/>
          <a:ln/>
        </p:spPr>
        <p:txBody>
          <a:bodyPr wrap="square" lIns="0" tIns="0" rIns="0" bIns="0" rtlCol="0" anchor="ctr"/>
          <a:lstStyle/>
          <a:p>
            <a:pPr indent="0" marL="0">
              <a:buNone/>
            </a:pPr>
            <a:r>
              <a:rPr lang="en-US" sz="4000" b="1" dirty="0">
                <a:solidFill>
                  <a:srgbClr val="C05621"/>
                </a:solidFill>
                <a:latin typeface="Bookman Old Style" pitchFamily="34" charset="0"/>
                <a:ea typeface="Bookman Old Style" pitchFamily="34" charset="-122"/>
                <a:cs typeface="Bookman Old Style" pitchFamily="34" charset="-120"/>
              </a:rPr>
              <a:t>13m</a:t>
            </a:r>
            <a:endParaRPr lang="en-US" sz="4000" dirty="0"/>
          </a:p>
        </p:txBody>
      </p:sp>
      <p:sp>
        <p:nvSpPr>
          <p:cNvPr id="10" name="Text 8"/>
          <p:cNvSpPr/>
          <p:nvPr/>
        </p:nvSpPr>
        <p:spPr>
          <a:xfrm>
            <a:off x="4773168" y="2926080"/>
            <a:ext cx="2980944" cy="329184"/>
          </a:xfrm>
          <a:prstGeom prst="rect">
            <a:avLst/>
          </a:prstGeom>
          <a:noFill/>
          <a:ln/>
        </p:spPr>
        <p:txBody>
          <a:bodyPr wrap="square" lIns="0" tIns="0" rIns="0" bIns="0" rtlCol="0" anchor="t"/>
          <a:lstStyle/>
          <a:p>
            <a:pPr indent="0" marL="0">
              <a:buNone/>
            </a:pPr>
            <a:r>
              <a:rPr lang="en-US" sz="1300" b="1" dirty="0">
                <a:solidFill>
                  <a:srgbClr val="2A1310"/>
                </a:solidFill>
                <a:latin typeface="Calibri" pitchFamily="34" charset="0"/>
                <a:ea typeface="Calibri" pitchFamily="34" charset="-122"/>
                <a:cs typeface="Calibri" pitchFamily="34" charset="-120"/>
              </a:rPr>
              <a:t>learners in basic education</a:t>
            </a:r>
            <a:endParaRPr lang="en-US" sz="1300" dirty="0"/>
          </a:p>
        </p:txBody>
      </p:sp>
      <p:sp>
        <p:nvSpPr>
          <p:cNvPr id="11" name="Text 9"/>
          <p:cNvSpPr/>
          <p:nvPr/>
        </p:nvSpPr>
        <p:spPr>
          <a:xfrm>
            <a:off x="4773168" y="3310128"/>
            <a:ext cx="2962656" cy="786384"/>
          </a:xfrm>
          <a:prstGeom prst="rect">
            <a:avLst/>
          </a:prstGeom>
          <a:noFill/>
          <a:ln/>
        </p:spPr>
        <p:txBody>
          <a:bodyPr wrap="square" lIns="0" tIns="0" rIns="0" bIns="0" rtlCol="0" anchor="t"/>
          <a:lstStyle/>
          <a:p>
            <a:pPr indent="0" marL="0">
              <a:lnSpc>
                <a:spcPts val="1700"/>
              </a:lnSpc>
              <a:buNone/>
            </a:pPr>
            <a:r>
              <a:rPr lang="en-US" sz="1200" dirty="0">
                <a:solidFill>
                  <a:srgbClr val="6E5347"/>
                </a:solidFill>
                <a:latin typeface="Calibri" pitchFamily="34" charset="0"/>
                <a:ea typeface="Calibri" pitchFamily="34" charset="-122"/>
                <a:cs typeface="Calibri" pitchFamily="34" charset="-120"/>
              </a:rPr>
              <a:t>with Grade 8 to 12 the immediate addressable band for a study companion like ours.</a:t>
            </a:r>
            <a:endParaRPr lang="en-US" sz="1200" dirty="0"/>
          </a:p>
        </p:txBody>
      </p:sp>
      <p:sp>
        <p:nvSpPr>
          <p:cNvPr id="12" name="Shape 10"/>
          <p:cNvSpPr/>
          <p:nvPr/>
        </p:nvSpPr>
        <p:spPr>
          <a:xfrm>
            <a:off x="8339328" y="1755648"/>
            <a:ext cx="3529584" cy="2505456"/>
          </a:xfrm>
          <a:prstGeom prst="roundRect">
            <a:avLst>
              <a:gd name="adj" fmla="val 5109"/>
            </a:avLst>
          </a:prstGeom>
          <a:solidFill>
            <a:srgbClr val="FFFCF5"/>
          </a:solidFill>
          <a:ln w="9525">
            <a:solidFill>
              <a:srgbClr val="E6D6BC"/>
            </a:solidFill>
            <a:prstDash val="solid"/>
          </a:ln>
          <a:effectLst>
            <a:outerShdw sx="100000" sy="100000" kx="0" ky="0" algn="bl" rotWithShape="0" blurRad="127000" dist="25400" dir="5400000">
              <a:srgbClr val="8A6A4A">
                <a:alpha val="16000"/>
              </a:srgbClr>
            </a:outerShdw>
          </a:effectLst>
        </p:spPr>
      </p:sp>
      <p:sp>
        <p:nvSpPr>
          <p:cNvPr id="13" name="Text 11"/>
          <p:cNvSpPr/>
          <p:nvPr/>
        </p:nvSpPr>
        <p:spPr>
          <a:xfrm>
            <a:off x="8613648" y="2029968"/>
            <a:ext cx="2980944" cy="841248"/>
          </a:xfrm>
          <a:prstGeom prst="rect">
            <a:avLst/>
          </a:prstGeom>
          <a:noFill/>
          <a:ln/>
        </p:spPr>
        <p:txBody>
          <a:bodyPr wrap="square" lIns="0" tIns="0" rIns="0" bIns="0" rtlCol="0" anchor="ctr"/>
          <a:lstStyle/>
          <a:p>
            <a:pPr indent="0" marL="0">
              <a:buNone/>
            </a:pPr>
            <a:r>
              <a:rPr lang="en-US" sz="4000" b="1" dirty="0">
                <a:solidFill>
                  <a:srgbClr val="C05621"/>
                </a:solidFill>
                <a:latin typeface="Bookman Old Style" pitchFamily="34" charset="0"/>
                <a:ea typeface="Bookman Old Style" pitchFamily="34" charset="-122"/>
                <a:cs typeface="Bookman Old Style" pitchFamily="34" charset="-120"/>
              </a:rPr>
              <a:t>~500k</a:t>
            </a:r>
            <a:endParaRPr lang="en-US" sz="4000" dirty="0"/>
          </a:p>
        </p:txBody>
      </p:sp>
      <p:sp>
        <p:nvSpPr>
          <p:cNvPr id="14" name="Text 12"/>
          <p:cNvSpPr/>
          <p:nvPr/>
        </p:nvSpPr>
        <p:spPr>
          <a:xfrm>
            <a:off x="8613648" y="2926080"/>
            <a:ext cx="2980944" cy="329184"/>
          </a:xfrm>
          <a:prstGeom prst="rect">
            <a:avLst/>
          </a:prstGeom>
          <a:noFill/>
          <a:ln/>
        </p:spPr>
        <p:txBody>
          <a:bodyPr wrap="square" lIns="0" tIns="0" rIns="0" bIns="0" rtlCol="0" anchor="t"/>
          <a:lstStyle/>
          <a:p>
            <a:pPr indent="0" marL="0">
              <a:buNone/>
            </a:pPr>
            <a:r>
              <a:rPr lang="en-US" sz="1300" b="1" dirty="0">
                <a:solidFill>
                  <a:srgbClr val="2A1310"/>
                </a:solidFill>
                <a:latin typeface="Calibri" pitchFamily="34" charset="0"/>
                <a:ea typeface="Calibri" pitchFamily="34" charset="-122"/>
                <a:cs typeface="Calibri" pitchFamily="34" charset="-120"/>
              </a:rPr>
              <a:t>TVET college students</a:t>
            </a:r>
            <a:endParaRPr lang="en-US" sz="1300" dirty="0"/>
          </a:p>
        </p:txBody>
      </p:sp>
      <p:sp>
        <p:nvSpPr>
          <p:cNvPr id="15" name="Text 13"/>
          <p:cNvSpPr/>
          <p:nvPr/>
        </p:nvSpPr>
        <p:spPr>
          <a:xfrm>
            <a:off x="8613648" y="3310128"/>
            <a:ext cx="2962656" cy="786384"/>
          </a:xfrm>
          <a:prstGeom prst="rect">
            <a:avLst/>
          </a:prstGeom>
          <a:noFill/>
          <a:ln/>
        </p:spPr>
        <p:txBody>
          <a:bodyPr wrap="square" lIns="0" tIns="0" rIns="0" bIns="0" rtlCol="0" anchor="t"/>
          <a:lstStyle/>
          <a:p>
            <a:pPr indent="0" marL="0">
              <a:lnSpc>
                <a:spcPts val="1700"/>
              </a:lnSpc>
              <a:buNone/>
            </a:pPr>
            <a:r>
              <a:rPr lang="en-US" sz="1200" dirty="0">
                <a:solidFill>
                  <a:srgbClr val="6E5347"/>
                </a:solidFill>
                <a:latin typeface="Calibri" pitchFamily="34" charset="0"/>
                <a:ea typeface="Calibri" pitchFamily="34" charset="-122"/>
                <a:cs typeface="Calibri" pitchFamily="34" charset="-120"/>
              </a:rPr>
              <a:t>under-served by every existing study platform, and the beachhead we know best.</a:t>
            </a:r>
            <a:endParaRPr lang="en-US" sz="1200" dirty="0"/>
          </a:p>
        </p:txBody>
      </p:sp>
      <p:sp>
        <p:nvSpPr>
          <p:cNvPr id="16" name="Shape 14"/>
          <p:cNvSpPr/>
          <p:nvPr/>
        </p:nvSpPr>
        <p:spPr>
          <a:xfrm>
            <a:off x="658368" y="4572000"/>
            <a:ext cx="10881360" cy="1481328"/>
          </a:xfrm>
          <a:prstGeom prst="roundRect">
            <a:avLst>
              <a:gd name="adj" fmla="val 8642"/>
            </a:avLst>
          </a:prstGeom>
          <a:solidFill>
            <a:srgbClr val="5C231C"/>
          </a:solidFill>
          <a:ln/>
          <a:effectLst>
            <a:outerShdw sx="100000" sy="100000" kx="0" ky="0" algn="bl" rotWithShape="0" blurRad="152400" dist="38100" dir="5400000">
              <a:srgbClr val="8A6A4A">
                <a:alpha val="22000"/>
              </a:srgbClr>
            </a:outerShdw>
          </a:effectLst>
        </p:spPr>
      </p:sp>
      <p:sp>
        <p:nvSpPr>
          <p:cNvPr id="17" name="Shape 15"/>
          <p:cNvSpPr/>
          <p:nvPr/>
        </p:nvSpPr>
        <p:spPr>
          <a:xfrm>
            <a:off x="1005840" y="5056632"/>
            <a:ext cx="512064" cy="512064"/>
          </a:xfrm>
          <a:prstGeom prst="ellipse">
            <a:avLst/>
          </a:prstGeom>
          <a:solidFill>
            <a:srgbClr val="E08A2E"/>
          </a:solidFill>
          <a:ln/>
        </p:spPr>
      </p:sp>
      <p:sp>
        <p:nvSpPr>
          <p:cNvPr id="18" name="Text 16"/>
          <p:cNvSpPr/>
          <p:nvPr/>
        </p:nvSpPr>
        <p:spPr>
          <a:xfrm>
            <a:off x="1005840" y="505663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Bookman Old Style" pitchFamily="34" charset="0"/>
                <a:ea typeface="Bookman Old Style" pitchFamily="34" charset="-122"/>
                <a:cs typeface="Bookman Old Style" pitchFamily="34" charset="-120"/>
              </a:rPr>
              <a:t>▶</a:t>
            </a:r>
            <a:endParaRPr lang="en-US" sz="1500" dirty="0"/>
          </a:p>
        </p:txBody>
      </p:sp>
      <p:sp>
        <p:nvSpPr>
          <p:cNvPr id="19" name="Text 17"/>
          <p:cNvSpPr/>
          <p:nvPr/>
        </p:nvSpPr>
        <p:spPr>
          <a:xfrm>
            <a:off x="1700784" y="4791456"/>
            <a:ext cx="2743200" cy="402336"/>
          </a:xfrm>
          <a:prstGeom prst="rect">
            <a:avLst/>
          </a:prstGeom>
          <a:noFill/>
          <a:ln/>
        </p:spPr>
        <p:txBody>
          <a:bodyPr wrap="square" lIns="0" tIns="0" rIns="0" bIns="0" rtlCol="0" anchor="ctr"/>
          <a:lstStyle/>
          <a:p>
            <a:pPr indent="0" marL="0">
              <a:buNone/>
            </a:pPr>
            <a:r>
              <a:rPr lang="en-US" sz="1900" b="1" dirty="0">
                <a:solidFill>
                  <a:srgbClr val="E08A2E"/>
                </a:solidFill>
                <a:latin typeface="Bookman Old Style" pitchFamily="34" charset="0"/>
                <a:ea typeface="Bookman Old Style" pitchFamily="34" charset="-122"/>
                <a:cs typeface="Bookman Old Style" pitchFamily="34" charset="-120"/>
              </a:rPr>
              <a:t>Start here</a:t>
            </a:r>
            <a:endParaRPr lang="en-US" sz="1900" dirty="0"/>
          </a:p>
        </p:txBody>
      </p:sp>
      <p:sp>
        <p:nvSpPr>
          <p:cNvPr id="20" name="Text 18"/>
          <p:cNvSpPr/>
          <p:nvPr/>
        </p:nvSpPr>
        <p:spPr>
          <a:xfrm>
            <a:off x="1700784" y="5248656"/>
            <a:ext cx="9418320" cy="603504"/>
          </a:xfrm>
          <a:prstGeom prst="rect">
            <a:avLst/>
          </a:prstGeom>
          <a:noFill/>
          <a:ln/>
        </p:spPr>
        <p:txBody>
          <a:bodyPr wrap="square" lIns="0" tIns="0" rIns="0" bIns="0" rtlCol="0" anchor="t"/>
          <a:lstStyle/>
          <a:p>
            <a:pPr indent="0" marL="0">
              <a:lnSpc>
                <a:spcPts val="2000"/>
              </a:lnSpc>
              <a:buNone/>
            </a:pPr>
            <a:r>
              <a:rPr lang="en-US" sz="1400" dirty="0">
                <a:solidFill>
                  <a:srgbClr val="D5BCA6"/>
                </a:solidFill>
                <a:latin typeface="Calibri" pitchFamily="34" charset="0"/>
                <a:ea typeface="Calibri" pitchFamily="34" charset="-122"/>
                <a:cs typeface="Calibri" pitchFamily="34" charset="-120"/>
              </a:rPr>
              <a:t>Majuba TVET and the Newcastle high schools — one campus, real learners, and results we can measure before we go wide.</a:t>
            </a:r>
            <a:endParaRPr lang="en-US" sz="1400" dirty="0"/>
          </a:p>
        </p:txBody>
      </p:sp>
    </p:spTree>
  </p:cSld>
  <p:clrMapOvr>
    <a:masterClrMapping/>
  </p:clrMapOvr>
  <mc:AlternateContent xmlns:mc="http://schemas.openxmlformats.org/markup-compatibility/2006">
    <mc:Choice xmlns:p14="http://schemas.microsoft.com/office/powerpoint/2010/main" Requires="p14">
      <p:transition spd="slow" p14:dur="800" advClick="1">
        <p:fade/>
      </p:transition>
    </mc:Choice>
    <mc:Fallback>
      <p:transition spd="slow" advClick="1">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58368" y="384048"/>
            <a:ext cx="10881360" cy="713232"/>
          </a:xfrm>
          <a:prstGeom prst="rect">
            <a:avLst/>
          </a:prstGeom>
          <a:noFill/>
          <a:ln/>
        </p:spPr>
        <p:txBody>
          <a:bodyPr wrap="square" lIns="0" tIns="0" rIns="0" bIns="0" rtlCol="0" anchor="ctr"/>
          <a:lstStyle/>
          <a:p>
            <a:pPr indent="0" marL="0">
              <a:buNone/>
            </a:pPr>
            <a:r>
              <a:rPr lang="en-US" sz="3300" b="1" dirty="0">
                <a:solidFill>
                  <a:srgbClr val="2A1310"/>
                </a:solidFill>
                <a:latin typeface="Bookman Old Style" pitchFamily="34" charset="0"/>
                <a:ea typeface="Bookman Old Style" pitchFamily="34" charset="-122"/>
                <a:cs typeface="Bookman Old Style" pitchFamily="34" charset="-120"/>
              </a:rPr>
              <a:t>Revenue generation</a:t>
            </a:r>
            <a:endParaRPr lang="en-US" sz="3300" dirty="0"/>
          </a:p>
        </p:txBody>
      </p:sp>
      <p:sp>
        <p:nvSpPr>
          <p:cNvPr id="3" name="Text 1"/>
          <p:cNvSpPr/>
          <p:nvPr/>
        </p:nvSpPr>
        <p:spPr>
          <a:xfrm>
            <a:off x="685800" y="1133856"/>
            <a:ext cx="8778240" cy="402336"/>
          </a:xfrm>
          <a:prstGeom prst="rect">
            <a:avLst/>
          </a:prstGeom>
          <a:noFill/>
          <a:ln/>
        </p:spPr>
        <p:txBody>
          <a:bodyPr wrap="square" lIns="0" tIns="0" rIns="0" bIns="0" rtlCol="0" anchor="t"/>
          <a:lstStyle/>
          <a:p>
            <a:pPr indent="0" marL="0">
              <a:buNone/>
            </a:pPr>
            <a:r>
              <a:rPr lang="en-US" sz="1500" dirty="0">
                <a:solidFill>
                  <a:srgbClr val="6E5347"/>
                </a:solidFill>
                <a:latin typeface="Calibri" pitchFamily="34" charset="0"/>
                <a:ea typeface="Calibri" pitchFamily="34" charset="-122"/>
                <a:cs typeface="Calibri" pitchFamily="34" charset="-120"/>
              </a:rPr>
              <a:t>Affordable by design. The learner who cannot pay is never the learner who is locked out.</a:t>
            </a:r>
            <a:endParaRPr lang="en-US" sz="1500" dirty="0"/>
          </a:p>
        </p:txBody>
      </p:sp>
      <p:sp>
        <p:nvSpPr>
          <p:cNvPr id="4" name="Shape 2"/>
          <p:cNvSpPr/>
          <p:nvPr/>
        </p:nvSpPr>
        <p:spPr>
          <a:xfrm>
            <a:off x="658368" y="1737360"/>
            <a:ext cx="6858000" cy="1371600"/>
          </a:xfrm>
          <a:prstGeom prst="roundRect">
            <a:avLst>
              <a:gd name="adj" fmla="val 9333"/>
            </a:avLst>
          </a:prstGeom>
          <a:solidFill>
            <a:srgbClr val="FFFCF5"/>
          </a:solidFill>
          <a:ln w="9525">
            <a:solidFill>
              <a:srgbClr val="E6D6BC"/>
            </a:solidFill>
            <a:prstDash val="solid"/>
          </a:ln>
          <a:effectLst>
            <a:outerShdw sx="100000" sy="100000" kx="0" ky="0" algn="bl" rotWithShape="0" blurRad="127000" dist="25400" dir="5400000">
              <a:srgbClr val="8A6A4A">
                <a:alpha val="16000"/>
              </a:srgbClr>
            </a:outerShdw>
          </a:effectLst>
        </p:spPr>
      </p:sp>
      <p:sp>
        <p:nvSpPr>
          <p:cNvPr id="5" name="Shape 3"/>
          <p:cNvSpPr/>
          <p:nvPr/>
        </p:nvSpPr>
        <p:spPr>
          <a:xfrm>
            <a:off x="969264" y="2176272"/>
            <a:ext cx="493776" cy="493776"/>
          </a:xfrm>
          <a:prstGeom prst="ellipse">
            <a:avLst/>
          </a:prstGeom>
          <a:solidFill>
            <a:srgbClr val="E08A2E"/>
          </a:solidFill>
          <a:ln/>
        </p:spPr>
      </p:sp>
      <p:sp>
        <p:nvSpPr>
          <p:cNvPr id="6" name="Text 4"/>
          <p:cNvSpPr/>
          <p:nvPr/>
        </p:nvSpPr>
        <p:spPr>
          <a:xfrm>
            <a:off x="969264" y="2176272"/>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Bookman Old Style" pitchFamily="34" charset="0"/>
                <a:ea typeface="Bookman Old Style" pitchFamily="34" charset="-122"/>
                <a:cs typeface="Bookman Old Style" pitchFamily="34" charset="-120"/>
              </a:rPr>
              <a:t>1</a:t>
            </a:r>
            <a:endParaRPr lang="en-US" sz="1500" dirty="0"/>
          </a:p>
        </p:txBody>
      </p:sp>
      <p:sp>
        <p:nvSpPr>
          <p:cNvPr id="7" name="Text 5"/>
          <p:cNvSpPr/>
          <p:nvPr/>
        </p:nvSpPr>
        <p:spPr>
          <a:xfrm>
            <a:off x="1627632" y="1956816"/>
            <a:ext cx="5029200" cy="384048"/>
          </a:xfrm>
          <a:prstGeom prst="rect">
            <a:avLst/>
          </a:prstGeom>
          <a:noFill/>
          <a:ln/>
        </p:spPr>
        <p:txBody>
          <a:bodyPr wrap="square" lIns="0" tIns="0" rIns="0" bIns="0" rtlCol="0" anchor="ctr"/>
          <a:lstStyle/>
          <a:p>
            <a:pPr indent="0" marL="0">
              <a:buNone/>
            </a:pPr>
            <a:r>
              <a:rPr lang="en-US" sz="1600" b="1" dirty="0">
                <a:solidFill>
                  <a:srgbClr val="2A1310"/>
                </a:solidFill>
                <a:latin typeface="Bookman Old Style" pitchFamily="34" charset="0"/>
                <a:ea typeface="Bookman Old Style" pitchFamily="34" charset="-122"/>
                <a:cs typeface="Bookman Old Style" pitchFamily="34" charset="-120"/>
              </a:rPr>
              <a:t>Free forever tier</a:t>
            </a:r>
            <a:endParaRPr lang="en-US" sz="1600" dirty="0"/>
          </a:p>
        </p:txBody>
      </p:sp>
      <p:sp>
        <p:nvSpPr>
          <p:cNvPr id="8" name="Text 6"/>
          <p:cNvSpPr/>
          <p:nvPr/>
        </p:nvSpPr>
        <p:spPr>
          <a:xfrm>
            <a:off x="1627632" y="2359152"/>
            <a:ext cx="5632704" cy="658368"/>
          </a:xfrm>
          <a:prstGeom prst="rect">
            <a:avLst/>
          </a:prstGeom>
          <a:noFill/>
          <a:ln/>
        </p:spPr>
        <p:txBody>
          <a:bodyPr wrap="square" lIns="0" tIns="0" rIns="0" bIns="0" rtlCol="0" anchor="t"/>
          <a:lstStyle/>
          <a:p>
            <a:pPr indent="0" marL="0">
              <a:lnSpc>
                <a:spcPts val="1700"/>
              </a:lnSpc>
              <a:buNone/>
            </a:pPr>
            <a:r>
              <a:rPr lang="en-US" sz="1250" dirty="0">
                <a:solidFill>
                  <a:srgbClr val="5F4534"/>
                </a:solidFill>
                <a:latin typeface="Calibri" pitchFamily="34" charset="0"/>
                <a:ea typeface="Calibri" pitchFamily="34" charset="-122"/>
                <a:cs typeface="Calibri" pitchFamily="34" charset="-120"/>
              </a:rPr>
              <a:t>Core notes, quizzes and flashcards at no cost. This is the promise, not a trial.</a:t>
            </a:r>
            <a:endParaRPr lang="en-US" sz="1250" dirty="0"/>
          </a:p>
        </p:txBody>
      </p:sp>
      <p:sp>
        <p:nvSpPr>
          <p:cNvPr id="9" name="Shape 7"/>
          <p:cNvSpPr/>
          <p:nvPr/>
        </p:nvSpPr>
        <p:spPr>
          <a:xfrm>
            <a:off x="658368" y="3364992"/>
            <a:ext cx="6858000" cy="1371600"/>
          </a:xfrm>
          <a:prstGeom prst="roundRect">
            <a:avLst>
              <a:gd name="adj" fmla="val 9333"/>
            </a:avLst>
          </a:prstGeom>
          <a:solidFill>
            <a:srgbClr val="FFFCF5"/>
          </a:solidFill>
          <a:ln w="9525">
            <a:solidFill>
              <a:srgbClr val="E6D6BC"/>
            </a:solidFill>
            <a:prstDash val="solid"/>
          </a:ln>
          <a:effectLst>
            <a:outerShdw sx="100000" sy="100000" kx="0" ky="0" algn="bl" rotWithShape="0" blurRad="127000" dist="25400" dir="5400000">
              <a:srgbClr val="8A6A4A">
                <a:alpha val="16000"/>
              </a:srgbClr>
            </a:outerShdw>
          </a:effectLst>
        </p:spPr>
      </p:sp>
      <p:sp>
        <p:nvSpPr>
          <p:cNvPr id="10" name="Shape 8"/>
          <p:cNvSpPr/>
          <p:nvPr/>
        </p:nvSpPr>
        <p:spPr>
          <a:xfrm>
            <a:off x="969264" y="3803904"/>
            <a:ext cx="493776" cy="493776"/>
          </a:xfrm>
          <a:prstGeom prst="ellipse">
            <a:avLst/>
          </a:prstGeom>
          <a:solidFill>
            <a:srgbClr val="E08A2E"/>
          </a:solidFill>
          <a:ln/>
        </p:spPr>
      </p:sp>
      <p:sp>
        <p:nvSpPr>
          <p:cNvPr id="11" name="Text 9"/>
          <p:cNvSpPr/>
          <p:nvPr/>
        </p:nvSpPr>
        <p:spPr>
          <a:xfrm>
            <a:off x="969264" y="3803904"/>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Bookman Old Style" pitchFamily="34" charset="0"/>
                <a:ea typeface="Bookman Old Style" pitchFamily="34" charset="-122"/>
                <a:cs typeface="Bookman Old Style" pitchFamily="34" charset="-120"/>
              </a:rPr>
              <a:t>2</a:t>
            </a:r>
            <a:endParaRPr lang="en-US" sz="1500" dirty="0"/>
          </a:p>
        </p:txBody>
      </p:sp>
      <p:sp>
        <p:nvSpPr>
          <p:cNvPr id="12" name="Text 10"/>
          <p:cNvSpPr/>
          <p:nvPr/>
        </p:nvSpPr>
        <p:spPr>
          <a:xfrm>
            <a:off x="1627632" y="3584448"/>
            <a:ext cx="5029200" cy="384048"/>
          </a:xfrm>
          <a:prstGeom prst="rect">
            <a:avLst/>
          </a:prstGeom>
          <a:noFill/>
          <a:ln/>
        </p:spPr>
        <p:txBody>
          <a:bodyPr wrap="square" lIns="0" tIns="0" rIns="0" bIns="0" rtlCol="0" anchor="ctr"/>
          <a:lstStyle/>
          <a:p>
            <a:pPr indent="0" marL="0">
              <a:buNone/>
            </a:pPr>
            <a:r>
              <a:rPr lang="en-US" sz="1600" b="1" dirty="0">
                <a:solidFill>
                  <a:srgbClr val="2A1310"/>
                </a:solidFill>
                <a:latin typeface="Bookman Old Style" pitchFamily="34" charset="0"/>
                <a:ea typeface="Bookman Old Style" pitchFamily="34" charset="-122"/>
                <a:cs typeface="Bookman Old Style" pitchFamily="34" charset="-120"/>
              </a:rPr>
              <a:t>Family plan</a:t>
            </a:r>
            <a:endParaRPr lang="en-US" sz="1600" dirty="0"/>
          </a:p>
        </p:txBody>
      </p:sp>
      <p:sp>
        <p:nvSpPr>
          <p:cNvPr id="13" name="Text 11"/>
          <p:cNvSpPr/>
          <p:nvPr/>
        </p:nvSpPr>
        <p:spPr>
          <a:xfrm>
            <a:off x="1627632" y="3986784"/>
            <a:ext cx="5632704" cy="658368"/>
          </a:xfrm>
          <a:prstGeom prst="rect">
            <a:avLst/>
          </a:prstGeom>
          <a:noFill/>
          <a:ln/>
        </p:spPr>
        <p:txBody>
          <a:bodyPr wrap="square" lIns="0" tIns="0" rIns="0" bIns="0" rtlCol="0" anchor="t"/>
          <a:lstStyle/>
          <a:p>
            <a:pPr indent="0" marL="0">
              <a:lnSpc>
                <a:spcPts val="1700"/>
              </a:lnSpc>
              <a:buNone/>
            </a:pPr>
            <a:r>
              <a:rPr lang="en-US" sz="1250" dirty="0">
                <a:solidFill>
                  <a:srgbClr val="5F4534"/>
                </a:solidFill>
                <a:latin typeface="Calibri" pitchFamily="34" charset="0"/>
                <a:ea typeface="Calibri" pitchFamily="34" charset="-122"/>
                <a:cs typeface="Calibri" pitchFamily="34" charset="-120"/>
              </a:rPr>
              <a:t>A low monthly subscription — about the price of one tutoring hour, for a whole year of study.</a:t>
            </a:r>
            <a:endParaRPr lang="en-US" sz="1250" dirty="0"/>
          </a:p>
        </p:txBody>
      </p:sp>
      <p:sp>
        <p:nvSpPr>
          <p:cNvPr id="14" name="Shape 12"/>
          <p:cNvSpPr/>
          <p:nvPr/>
        </p:nvSpPr>
        <p:spPr>
          <a:xfrm>
            <a:off x="658368" y="4992624"/>
            <a:ext cx="6858000" cy="1371600"/>
          </a:xfrm>
          <a:prstGeom prst="roundRect">
            <a:avLst>
              <a:gd name="adj" fmla="val 9333"/>
            </a:avLst>
          </a:prstGeom>
          <a:solidFill>
            <a:srgbClr val="FFFCF5"/>
          </a:solidFill>
          <a:ln w="9525">
            <a:solidFill>
              <a:srgbClr val="E6D6BC"/>
            </a:solidFill>
            <a:prstDash val="solid"/>
          </a:ln>
          <a:effectLst>
            <a:outerShdw sx="100000" sy="100000" kx="0" ky="0" algn="bl" rotWithShape="0" blurRad="127000" dist="25400" dir="5400000">
              <a:srgbClr val="8A6A4A">
                <a:alpha val="16000"/>
              </a:srgbClr>
            </a:outerShdw>
          </a:effectLst>
        </p:spPr>
      </p:sp>
      <p:sp>
        <p:nvSpPr>
          <p:cNvPr id="15" name="Shape 13"/>
          <p:cNvSpPr/>
          <p:nvPr/>
        </p:nvSpPr>
        <p:spPr>
          <a:xfrm>
            <a:off x="969264" y="5431536"/>
            <a:ext cx="493776" cy="493776"/>
          </a:xfrm>
          <a:prstGeom prst="ellipse">
            <a:avLst/>
          </a:prstGeom>
          <a:solidFill>
            <a:srgbClr val="E08A2E"/>
          </a:solidFill>
          <a:ln/>
        </p:spPr>
      </p:sp>
      <p:sp>
        <p:nvSpPr>
          <p:cNvPr id="16" name="Text 14"/>
          <p:cNvSpPr/>
          <p:nvPr/>
        </p:nvSpPr>
        <p:spPr>
          <a:xfrm>
            <a:off x="969264" y="5431536"/>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Bookman Old Style" pitchFamily="34" charset="0"/>
                <a:ea typeface="Bookman Old Style" pitchFamily="34" charset="-122"/>
                <a:cs typeface="Bookman Old Style" pitchFamily="34" charset="-120"/>
              </a:rPr>
              <a:t>3</a:t>
            </a:r>
            <a:endParaRPr lang="en-US" sz="1500" dirty="0"/>
          </a:p>
        </p:txBody>
      </p:sp>
      <p:sp>
        <p:nvSpPr>
          <p:cNvPr id="17" name="Text 15"/>
          <p:cNvSpPr/>
          <p:nvPr/>
        </p:nvSpPr>
        <p:spPr>
          <a:xfrm>
            <a:off x="1627632" y="5212080"/>
            <a:ext cx="5029200" cy="384048"/>
          </a:xfrm>
          <a:prstGeom prst="rect">
            <a:avLst/>
          </a:prstGeom>
          <a:noFill/>
          <a:ln/>
        </p:spPr>
        <p:txBody>
          <a:bodyPr wrap="square" lIns="0" tIns="0" rIns="0" bIns="0" rtlCol="0" anchor="ctr"/>
          <a:lstStyle/>
          <a:p>
            <a:pPr indent="0" marL="0">
              <a:buNone/>
            </a:pPr>
            <a:r>
              <a:rPr lang="en-US" sz="1600" b="1" dirty="0">
                <a:solidFill>
                  <a:srgbClr val="2A1310"/>
                </a:solidFill>
                <a:latin typeface="Bookman Old Style" pitchFamily="34" charset="0"/>
                <a:ea typeface="Bookman Old Style" pitchFamily="34" charset="-122"/>
                <a:cs typeface="Bookman Old Style" pitchFamily="34" charset="-120"/>
              </a:rPr>
              <a:t>Institution seats</a:t>
            </a:r>
            <a:endParaRPr lang="en-US" sz="1600" dirty="0"/>
          </a:p>
        </p:txBody>
      </p:sp>
      <p:sp>
        <p:nvSpPr>
          <p:cNvPr id="18" name="Text 16"/>
          <p:cNvSpPr/>
          <p:nvPr/>
        </p:nvSpPr>
        <p:spPr>
          <a:xfrm>
            <a:off x="1627632" y="5614416"/>
            <a:ext cx="5632704" cy="658368"/>
          </a:xfrm>
          <a:prstGeom prst="rect">
            <a:avLst/>
          </a:prstGeom>
          <a:noFill/>
          <a:ln/>
        </p:spPr>
        <p:txBody>
          <a:bodyPr wrap="square" lIns="0" tIns="0" rIns="0" bIns="0" rtlCol="0" anchor="t"/>
          <a:lstStyle/>
          <a:p>
            <a:pPr indent="0" marL="0">
              <a:lnSpc>
                <a:spcPts val="1700"/>
              </a:lnSpc>
              <a:buNone/>
            </a:pPr>
            <a:r>
              <a:rPr lang="en-US" sz="1250" dirty="0">
                <a:solidFill>
                  <a:srgbClr val="5F4534"/>
                </a:solidFill>
                <a:latin typeface="Calibri" pitchFamily="34" charset="0"/>
                <a:ea typeface="Calibri" pitchFamily="34" charset="-122"/>
                <a:cs typeface="Calibri" pitchFamily="34" charset="-120"/>
              </a:rPr>
              <a:t>Colleges and schools licence seats per learner, with a lecturer view of weak topics. CSI and telco partners sponsor bundles for no-fee schools.</a:t>
            </a:r>
            <a:endParaRPr lang="en-US" sz="1250" dirty="0"/>
          </a:p>
        </p:txBody>
      </p:sp>
      <p:sp>
        <p:nvSpPr>
          <p:cNvPr id="19" name="Shape 17"/>
          <p:cNvSpPr/>
          <p:nvPr/>
        </p:nvSpPr>
        <p:spPr>
          <a:xfrm>
            <a:off x="7882128" y="1737360"/>
            <a:ext cx="3657600" cy="4626864"/>
          </a:xfrm>
          <a:prstGeom prst="roundRect">
            <a:avLst>
              <a:gd name="adj" fmla="val 3500"/>
            </a:avLst>
          </a:prstGeom>
          <a:solidFill>
            <a:srgbClr val="5C231C"/>
          </a:solidFill>
          <a:ln/>
          <a:effectLst>
            <a:outerShdw sx="100000" sy="100000" kx="0" ky="0" algn="bl" rotWithShape="0" blurRad="152400" dist="38100" dir="5400000">
              <a:srgbClr val="8A6A4A">
                <a:alpha val="22000"/>
              </a:srgbClr>
            </a:outerShdw>
          </a:effectLst>
        </p:spPr>
      </p:sp>
      <p:sp>
        <p:nvSpPr>
          <p:cNvPr id="20" name="Text 18"/>
          <p:cNvSpPr/>
          <p:nvPr/>
        </p:nvSpPr>
        <p:spPr>
          <a:xfrm>
            <a:off x="8193024" y="2194560"/>
            <a:ext cx="3035808" cy="292608"/>
          </a:xfrm>
          <a:prstGeom prst="rect">
            <a:avLst/>
          </a:prstGeom>
          <a:noFill/>
          <a:ln/>
        </p:spPr>
        <p:txBody>
          <a:bodyPr wrap="square" lIns="0" tIns="0" rIns="0" bIns="0" rtlCol="0" anchor="t"/>
          <a:lstStyle/>
          <a:p>
            <a:pPr indent="0" marL="0">
              <a:buNone/>
            </a:pPr>
            <a:r>
              <a:rPr lang="en-US" sz="1100" b="1" spc="220" kern="0" dirty="0">
                <a:solidFill>
                  <a:srgbClr val="E08A2E"/>
                </a:solidFill>
                <a:latin typeface="Calibri" pitchFamily="34" charset="0"/>
                <a:ea typeface="Calibri" pitchFamily="34" charset="-122"/>
                <a:cs typeface="Calibri" pitchFamily="34" charset="-120"/>
              </a:rPr>
              <a:t>BREAK-EVEN</a:t>
            </a:r>
            <a:endParaRPr lang="en-US" sz="1100" dirty="0"/>
          </a:p>
        </p:txBody>
      </p:sp>
      <p:sp>
        <p:nvSpPr>
          <p:cNvPr id="21" name="Text 19"/>
          <p:cNvSpPr/>
          <p:nvPr/>
        </p:nvSpPr>
        <p:spPr>
          <a:xfrm>
            <a:off x="8174736" y="2596896"/>
            <a:ext cx="3072384" cy="1097280"/>
          </a:xfrm>
          <a:prstGeom prst="rect">
            <a:avLst/>
          </a:prstGeom>
          <a:noFill/>
          <a:ln/>
        </p:spPr>
        <p:txBody>
          <a:bodyPr wrap="square" lIns="0" tIns="0" rIns="0" bIns="0" rtlCol="0" anchor="ctr"/>
          <a:lstStyle/>
          <a:p>
            <a:pPr indent="0" marL="0">
              <a:buNone/>
            </a:pPr>
            <a:r>
              <a:rPr lang="en-US" sz="5200" b="1" dirty="0">
                <a:solidFill>
                  <a:srgbClr val="F6EBD8"/>
                </a:solidFill>
                <a:latin typeface="Bookman Old Style" pitchFamily="34" charset="0"/>
                <a:ea typeface="Bookman Old Style" pitchFamily="34" charset="-122"/>
                <a:cs typeface="Bookman Old Style" pitchFamily="34" charset="-120"/>
              </a:rPr>
              <a:t>2 000</a:t>
            </a:r>
            <a:endParaRPr lang="en-US" sz="5200" dirty="0"/>
          </a:p>
        </p:txBody>
      </p:sp>
      <p:sp>
        <p:nvSpPr>
          <p:cNvPr id="22" name="Text 20"/>
          <p:cNvSpPr/>
          <p:nvPr/>
        </p:nvSpPr>
        <p:spPr>
          <a:xfrm>
            <a:off x="8193024" y="3785616"/>
            <a:ext cx="3017520" cy="731520"/>
          </a:xfrm>
          <a:prstGeom prst="rect">
            <a:avLst/>
          </a:prstGeom>
          <a:noFill/>
          <a:ln/>
        </p:spPr>
        <p:txBody>
          <a:bodyPr wrap="square" lIns="0" tIns="0" rIns="0" bIns="0" rtlCol="0" anchor="t"/>
          <a:lstStyle/>
          <a:p>
            <a:pPr indent="0" marL="0">
              <a:lnSpc>
                <a:spcPts val="1900"/>
              </a:lnSpc>
              <a:buNone/>
            </a:pPr>
            <a:r>
              <a:rPr lang="en-US" sz="1300" dirty="0">
                <a:solidFill>
                  <a:srgbClr val="D5BCA6"/>
                </a:solidFill>
                <a:latin typeface="Calibri" pitchFamily="34" charset="0"/>
                <a:ea typeface="Calibri" pitchFamily="34" charset="-122"/>
                <a:cs typeface="Calibri" pitchFamily="34" charset="-120"/>
              </a:rPr>
              <a:t>paying learners covers hosting, AI inference and support in full.</a:t>
            </a:r>
            <a:endParaRPr lang="en-US" sz="1300" dirty="0"/>
          </a:p>
        </p:txBody>
      </p:sp>
      <p:sp>
        <p:nvSpPr>
          <p:cNvPr id="23" name="Text 21"/>
          <p:cNvSpPr/>
          <p:nvPr/>
        </p:nvSpPr>
        <p:spPr>
          <a:xfrm>
            <a:off x="8193024" y="5029200"/>
            <a:ext cx="3017520" cy="822960"/>
          </a:xfrm>
          <a:prstGeom prst="rect">
            <a:avLst/>
          </a:prstGeom>
          <a:noFill/>
          <a:ln/>
        </p:spPr>
        <p:txBody>
          <a:bodyPr wrap="square" lIns="0" tIns="0" rIns="0" bIns="0" rtlCol="0" anchor="t"/>
          <a:lstStyle/>
          <a:p>
            <a:pPr indent="0" marL="0">
              <a:lnSpc>
                <a:spcPts val="1800"/>
              </a:lnSpc>
              <a:buNone/>
            </a:pPr>
            <a:r>
              <a:rPr lang="en-US" sz="1250" b="1" i="1" dirty="0">
                <a:solidFill>
                  <a:srgbClr val="E08A2E"/>
                </a:solidFill>
                <a:latin typeface="Calibri" pitchFamily="34" charset="0"/>
                <a:ea typeface="Calibri" pitchFamily="34" charset="-122"/>
                <a:cs typeface="Calibri" pitchFamily="34" charset="-120"/>
              </a:rPr>
              <a:t>Surplus funds sponsored seats and more subjects — not dividends.</a:t>
            </a:r>
            <a:endParaRPr lang="en-US" sz="1250" dirty="0"/>
          </a:p>
        </p:txBody>
      </p:sp>
    </p:spTree>
  </p:cSld>
  <p:clrMapOvr>
    <a:masterClrMapping/>
  </p:clrMapOvr>
  <mc:AlternateContent xmlns:mc="http://schemas.openxmlformats.org/markup-compatibility/2006">
    <mc:Choice xmlns:p14="http://schemas.microsoft.com/office/powerpoint/2010/main" Requires="p14">
      <p:transition spd="slow" p14:dur="800" advClick="1">
        <p:fade/>
      </p:transition>
    </mc:Choice>
    <mc:Fallback>
      <p:transition spd="slow" advClick="1">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58368" y="384048"/>
            <a:ext cx="10881360" cy="713232"/>
          </a:xfrm>
          <a:prstGeom prst="rect">
            <a:avLst/>
          </a:prstGeom>
          <a:noFill/>
          <a:ln/>
        </p:spPr>
        <p:txBody>
          <a:bodyPr wrap="square" lIns="0" tIns="0" rIns="0" bIns="0" rtlCol="0" anchor="ctr"/>
          <a:lstStyle/>
          <a:p>
            <a:pPr indent="0" marL="0">
              <a:buNone/>
            </a:pPr>
            <a:r>
              <a:rPr lang="en-US" sz="3300" b="1" dirty="0">
                <a:solidFill>
                  <a:srgbClr val="2A1310"/>
                </a:solidFill>
                <a:latin typeface="Bookman Old Style" pitchFamily="34" charset="0"/>
                <a:ea typeface="Bookman Old Style" pitchFamily="34" charset="-122"/>
                <a:cs typeface="Bookman Old Style" pitchFamily="34" charset="-120"/>
              </a:rPr>
              <a:t>Impact on society and the environment</a:t>
            </a:r>
            <a:endParaRPr lang="en-US" sz="3300" dirty="0"/>
          </a:p>
        </p:txBody>
      </p:sp>
      <p:sp>
        <p:nvSpPr>
          <p:cNvPr id="3" name="Shape 1"/>
          <p:cNvSpPr/>
          <p:nvPr/>
        </p:nvSpPr>
        <p:spPr>
          <a:xfrm>
            <a:off x="658368" y="1243584"/>
            <a:ext cx="5358384" cy="4864608"/>
          </a:xfrm>
          <a:prstGeom prst="roundRect">
            <a:avLst>
              <a:gd name="adj" fmla="val 2632"/>
            </a:avLst>
          </a:prstGeom>
          <a:solidFill>
            <a:srgbClr val="FFFCF5"/>
          </a:solidFill>
          <a:ln w="9525">
            <a:solidFill>
              <a:srgbClr val="E6D6BC"/>
            </a:solidFill>
            <a:prstDash val="solid"/>
          </a:ln>
          <a:effectLst>
            <a:outerShdw sx="100000" sy="100000" kx="0" ky="0" algn="bl" rotWithShape="0" blurRad="127000" dist="25400" dir="5400000">
              <a:srgbClr val="8A6A4A">
                <a:alpha val="16000"/>
              </a:srgbClr>
            </a:outerShdw>
          </a:effectLst>
        </p:spPr>
      </p:sp>
      <p:sp>
        <p:nvSpPr>
          <p:cNvPr id="4" name="Shape 2"/>
          <p:cNvSpPr/>
          <p:nvPr/>
        </p:nvSpPr>
        <p:spPr>
          <a:xfrm>
            <a:off x="987552" y="1609344"/>
            <a:ext cx="1572768" cy="420624"/>
          </a:xfrm>
          <a:prstGeom prst="roundRect">
            <a:avLst>
              <a:gd name="adj" fmla="val 50000"/>
            </a:avLst>
          </a:prstGeom>
          <a:solidFill>
            <a:srgbClr val="F7E4C4"/>
          </a:solidFill>
          <a:ln/>
        </p:spPr>
      </p:sp>
      <p:sp>
        <p:nvSpPr>
          <p:cNvPr id="5" name="Text 3"/>
          <p:cNvSpPr/>
          <p:nvPr/>
        </p:nvSpPr>
        <p:spPr>
          <a:xfrm>
            <a:off x="987552" y="1609344"/>
            <a:ext cx="1572768" cy="420624"/>
          </a:xfrm>
          <a:prstGeom prst="rect">
            <a:avLst/>
          </a:prstGeom>
          <a:noFill/>
          <a:ln/>
        </p:spPr>
        <p:txBody>
          <a:bodyPr wrap="square" lIns="0" tIns="0" rIns="0" bIns="0" rtlCol="0" anchor="ctr"/>
          <a:lstStyle/>
          <a:p>
            <a:pPr algn="ctr" indent="0" marL="0">
              <a:buNone/>
            </a:pPr>
            <a:r>
              <a:rPr lang="en-US" sz="1050" b="1" spc="180" kern="0" dirty="0">
                <a:solidFill>
                  <a:srgbClr val="C05621"/>
                </a:solidFill>
                <a:latin typeface="Calibri" pitchFamily="34" charset="0"/>
                <a:ea typeface="Calibri" pitchFamily="34" charset="-122"/>
                <a:cs typeface="Calibri" pitchFamily="34" charset="-120"/>
              </a:rPr>
              <a:t>SOCIETY</a:t>
            </a:r>
            <a:endParaRPr lang="en-US" sz="1050" dirty="0"/>
          </a:p>
        </p:txBody>
      </p:sp>
      <p:sp>
        <p:nvSpPr>
          <p:cNvPr id="6" name="Text 4"/>
          <p:cNvSpPr/>
          <p:nvPr/>
        </p:nvSpPr>
        <p:spPr>
          <a:xfrm>
            <a:off x="987552" y="2212848"/>
            <a:ext cx="4700016" cy="896112"/>
          </a:xfrm>
          <a:prstGeom prst="rect">
            <a:avLst/>
          </a:prstGeom>
          <a:noFill/>
          <a:ln/>
        </p:spPr>
        <p:txBody>
          <a:bodyPr wrap="square" lIns="0" tIns="0" rIns="0" bIns="0" rtlCol="0" anchor="t"/>
          <a:lstStyle/>
          <a:p>
            <a:pPr indent="0" marL="0">
              <a:lnSpc>
                <a:spcPts val="2600"/>
              </a:lnSpc>
              <a:buNone/>
            </a:pPr>
            <a:r>
              <a:rPr lang="en-US" sz="1800" b="1" dirty="0">
                <a:solidFill>
                  <a:srgbClr val="2A1310"/>
                </a:solidFill>
                <a:latin typeface="Bookman Old Style" pitchFamily="34" charset="0"/>
                <a:ea typeface="Bookman Old Style" pitchFamily="34" charset="-122"/>
                <a:cs typeface="Bookman Old Style" pitchFamily="34" charset="-120"/>
              </a:rPr>
              <a:t>The same quality of explanation reaches every learner.</a:t>
            </a:r>
            <a:endParaRPr lang="en-US" sz="1800" dirty="0"/>
          </a:p>
        </p:txBody>
      </p:sp>
      <p:sp>
        <p:nvSpPr>
          <p:cNvPr id="7" name="Shape 5"/>
          <p:cNvSpPr/>
          <p:nvPr/>
        </p:nvSpPr>
        <p:spPr>
          <a:xfrm>
            <a:off x="1024128" y="3401568"/>
            <a:ext cx="137160" cy="137160"/>
          </a:xfrm>
          <a:prstGeom prst="ellipse">
            <a:avLst/>
          </a:prstGeom>
          <a:solidFill>
            <a:srgbClr val="C05621"/>
          </a:solidFill>
          <a:ln/>
        </p:spPr>
      </p:sp>
      <p:sp>
        <p:nvSpPr>
          <p:cNvPr id="8" name="Text 6"/>
          <p:cNvSpPr/>
          <p:nvPr/>
        </p:nvSpPr>
        <p:spPr>
          <a:xfrm>
            <a:off x="1335024" y="3291840"/>
            <a:ext cx="4334256" cy="786384"/>
          </a:xfrm>
          <a:prstGeom prst="rect">
            <a:avLst/>
          </a:prstGeom>
          <a:noFill/>
          <a:ln/>
        </p:spPr>
        <p:txBody>
          <a:bodyPr wrap="square" lIns="0" tIns="0" rIns="0" bIns="0" rtlCol="0" anchor="t"/>
          <a:lstStyle/>
          <a:p>
            <a:pPr indent="0" marL="0">
              <a:lnSpc>
                <a:spcPts val="1800"/>
              </a:lnSpc>
              <a:buNone/>
            </a:pPr>
            <a:r>
              <a:rPr lang="en-US" sz="1250" dirty="0">
                <a:solidFill>
                  <a:srgbClr val="5F4534"/>
                </a:solidFill>
                <a:latin typeface="Calibri" pitchFamily="34" charset="0"/>
                <a:ea typeface="Calibri" pitchFamily="34" charset="-122"/>
                <a:cs typeface="Calibri" pitchFamily="34" charset="-120"/>
              </a:rPr>
              <a:t>A learner in a school with no laboratory gets the explanation a private-school learner gets.</a:t>
            </a:r>
            <a:endParaRPr lang="en-US" sz="1250" dirty="0"/>
          </a:p>
        </p:txBody>
      </p:sp>
      <p:sp>
        <p:nvSpPr>
          <p:cNvPr id="9" name="Shape 7"/>
          <p:cNvSpPr/>
          <p:nvPr/>
        </p:nvSpPr>
        <p:spPr>
          <a:xfrm>
            <a:off x="1024128" y="4315968"/>
            <a:ext cx="137160" cy="137160"/>
          </a:xfrm>
          <a:prstGeom prst="ellipse">
            <a:avLst/>
          </a:prstGeom>
          <a:solidFill>
            <a:srgbClr val="C05621"/>
          </a:solidFill>
          <a:ln/>
        </p:spPr>
      </p:sp>
      <p:sp>
        <p:nvSpPr>
          <p:cNvPr id="10" name="Text 8"/>
          <p:cNvSpPr/>
          <p:nvPr/>
        </p:nvSpPr>
        <p:spPr>
          <a:xfrm>
            <a:off x="1335024" y="4206240"/>
            <a:ext cx="4334256" cy="786384"/>
          </a:xfrm>
          <a:prstGeom prst="rect">
            <a:avLst/>
          </a:prstGeom>
          <a:noFill/>
          <a:ln/>
        </p:spPr>
        <p:txBody>
          <a:bodyPr wrap="square" lIns="0" tIns="0" rIns="0" bIns="0" rtlCol="0" anchor="t"/>
          <a:lstStyle/>
          <a:p>
            <a:pPr indent="0" marL="0">
              <a:lnSpc>
                <a:spcPts val="1800"/>
              </a:lnSpc>
              <a:buNone/>
            </a:pPr>
            <a:r>
              <a:rPr lang="en-US" sz="1250" dirty="0">
                <a:solidFill>
                  <a:srgbClr val="5F4534"/>
                </a:solidFill>
                <a:latin typeface="Calibri" pitchFamily="34" charset="0"/>
                <a:ea typeface="Calibri" pitchFamily="34" charset="-122"/>
                <a:cs typeface="Calibri" pitchFamily="34" charset="-120"/>
              </a:rPr>
              <a:t>Practice replaces panic — by exam day the question has already been answered fifty times.</a:t>
            </a:r>
            <a:endParaRPr lang="en-US" sz="1250" dirty="0"/>
          </a:p>
        </p:txBody>
      </p:sp>
      <p:sp>
        <p:nvSpPr>
          <p:cNvPr id="11" name="Shape 9"/>
          <p:cNvSpPr/>
          <p:nvPr/>
        </p:nvSpPr>
        <p:spPr>
          <a:xfrm>
            <a:off x="1024128" y="5230368"/>
            <a:ext cx="137160" cy="137160"/>
          </a:xfrm>
          <a:prstGeom prst="ellipse">
            <a:avLst/>
          </a:prstGeom>
          <a:solidFill>
            <a:srgbClr val="C05621"/>
          </a:solidFill>
          <a:ln/>
        </p:spPr>
      </p:sp>
      <p:sp>
        <p:nvSpPr>
          <p:cNvPr id="12" name="Text 10"/>
          <p:cNvSpPr/>
          <p:nvPr/>
        </p:nvSpPr>
        <p:spPr>
          <a:xfrm>
            <a:off x="1335024" y="5120640"/>
            <a:ext cx="4334256" cy="786384"/>
          </a:xfrm>
          <a:prstGeom prst="rect">
            <a:avLst/>
          </a:prstGeom>
          <a:noFill/>
          <a:ln/>
        </p:spPr>
        <p:txBody>
          <a:bodyPr wrap="square" lIns="0" tIns="0" rIns="0" bIns="0" rtlCol="0" anchor="t"/>
          <a:lstStyle/>
          <a:p>
            <a:pPr indent="0" marL="0">
              <a:lnSpc>
                <a:spcPts val="1800"/>
              </a:lnSpc>
              <a:buNone/>
            </a:pPr>
            <a:r>
              <a:rPr lang="en-US" sz="1250" dirty="0">
                <a:solidFill>
                  <a:srgbClr val="5F4534"/>
                </a:solidFill>
                <a:latin typeface="Calibri" pitchFamily="34" charset="0"/>
                <a:ea typeface="Calibri" pitchFamily="34" charset="-122"/>
                <a:cs typeface="Calibri" pitchFamily="34" charset="-120"/>
              </a:rPr>
              <a:t>Every extra bachelor pass changes a household's trajectory, not just a learner's marks.</a:t>
            </a:r>
            <a:endParaRPr lang="en-US" sz="1250" dirty="0"/>
          </a:p>
        </p:txBody>
      </p:sp>
      <p:sp>
        <p:nvSpPr>
          <p:cNvPr id="13" name="Shape 11"/>
          <p:cNvSpPr/>
          <p:nvPr/>
        </p:nvSpPr>
        <p:spPr>
          <a:xfrm>
            <a:off x="6163056" y="1243584"/>
            <a:ext cx="5358384" cy="4864608"/>
          </a:xfrm>
          <a:prstGeom prst="roundRect">
            <a:avLst>
              <a:gd name="adj" fmla="val 2632"/>
            </a:avLst>
          </a:prstGeom>
          <a:solidFill>
            <a:srgbClr val="FFFCF5"/>
          </a:solidFill>
          <a:ln w="9525">
            <a:solidFill>
              <a:srgbClr val="E6D6BC"/>
            </a:solidFill>
            <a:prstDash val="solid"/>
          </a:ln>
          <a:effectLst>
            <a:outerShdw sx="100000" sy="100000" kx="0" ky="0" algn="bl" rotWithShape="0" blurRad="127000" dist="25400" dir="5400000">
              <a:srgbClr val="8A6A4A">
                <a:alpha val="16000"/>
              </a:srgbClr>
            </a:outerShdw>
          </a:effectLst>
        </p:spPr>
      </p:sp>
      <p:sp>
        <p:nvSpPr>
          <p:cNvPr id="14" name="Shape 12"/>
          <p:cNvSpPr/>
          <p:nvPr/>
        </p:nvSpPr>
        <p:spPr>
          <a:xfrm>
            <a:off x="6492240" y="1609344"/>
            <a:ext cx="1572768" cy="420624"/>
          </a:xfrm>
          <a:prstGeom prst="roundRect">
            <a:avLst>
              <a:gd name="adj" fmla="val 50000"/>
            </a:avLst>
          </a:prstGeom>
          <a:solidFill>
            <a:srgbClr val="E4EAD8"/>
          </a:solidFill>
          <a:ln/>
        </p:spPr>
      </p:sp>
      <p:sp>
        <p:nvSpPr>
          <p:cNvPr id="15" name="Text 13"/>
          <p:cNvSpPr/>
          <p:nvPr/>
        </p:nvSpPr>
        <p:spPr>
          <a:xfrm>
            <a:off x="6492240" y="1609344"/>
            <a:ext cx="1572768" cy="420624"/>
          </a:xfrm>
          <a:prstGeom prst="rect">
            <a:avLst/>
          </a:prstGeom>
          <a:noFill/>
          <a:ln/>
        </p:spPr>
        <p:txBody>
          <a:bodyPr wrap="square" lIns="0" tIns="0" rIns="0" bIns="0" rtlCol="0" anchor="ctr"/>
          <a:lstStyle/>
          <a:p>
            <a:pPr algn="ctr" indent="0" marL="0">
              <a:buNone/>
            </a:pPr>
            <a:r>
              <a:rPr lang="en-US" sz="1050" b="1" spc="180" kern="0" dirty="0">
                <a:solidFill>
                  <a:srgbClr val="5F7050"/>
                </a:solidFill>
                <a:latin typeface="Calibri" pitchFamily="34" charset="0"/>
                <a:ea typeface="Calibri" pitchFamily="34" charset="-122"/>
                <a:cs typeface="Calibri" pitchFamily="34" charset="-120"/>
              </a:rPr>
              <a:t>ENVIRONMENT</a:t>
            </a:r>
            <a:endParaRPr lang="en-US" sz="1050" dirty="0"/>
          </a:p>
        </p:txBody>
      </p:sp>
      <p:sp>
        <p:nvSpPr>
          <p:cNvPr id="16" name="Text 14"/>
          <p:cNvSpPr/>
          <p:nvPr/>
        </p:nvSpPr>
        <p:spPr>
          <a:xfrm>
            <a:off x="6492240" y="2212848"/>
            <a:ext cx="4700016" cy="896112"/>
          </a:xfrm>
          <a:prstGeom prst="rect">
            <a:avLst/>
          </a:prstGeom>
          <a:noFill/>
          <a:ln/>
        </p:spPr>
        <p:txBody>
          <a:bodyPr wrap="square" lIns="0" tIns="0" rIns="0" bIns="0" rtlCol="0" anchor="t"/>
          <a:lstStyle/>
          <a:p>
            <a:pPr indent="0" marL="0">
              <a:lnSpc>
                <a:spcPts val="2600"/>
              </a:lnSpc>
              <a:buNone/>
            </a:pPr>
            <a:r>
              <a:rPr lang="en-US" sz="1800" b="1" dirty="0">
                <a:solidFill>
                  <a:srgbClr val="2A1310"/>
                </a:solidFill>
                <a:latin typeface="Bookman Old Style" pitchFamily="34" charset="0"/>
                <a:ea typeface="Bookman Old Style" pitchFamily="34" charset="-122"/>
                <a:cs typeface="Bookman Old Style" pitchFamily="34" charset="-120"/>
              </a:rPr>
              <a:t>Study material with no paper and no travel.</a:t>
            </a:r>
            <a:endParaRPr lang="en-US" sz="1800" dirty="0"/>
          </a:p>
        </p:txBody>
      </p:sp>
      <p:sp>
        <p:nvSpPr>
          <p:cNvPr id="17" name="Shape 15"/>
          <p:cNvSpPr/>
          <p:nvPr/>
        </p:nvSpPr>
        <p:spPr>
          <a:xfrm>
            <a:off x="6528816" y="3401568"/>
            <a:ext cx="137160" cy="137160"/>
          </a:xfrm>
          <a:prstGeom prst="ellipse">
            <a:avLst/>
          </a:prstGeom>
          <a:solidFill>
            <a:srgbClr val="5F7050"/>
          </a:solidFill>
          <a:ln/>
        </p:spPr>
      </p:sp>
      <p:sp>
        <p:nvSpPr>
          <p:cNvPr id="18" name="Text 16"/>
          <p:cNvSpPr/>
          <p:nvPr/>
        </p:nvSpPr>
        <p:spPr>
          <a:xfrm>
            <a:off x="6839712" y="3291840"/>
            <a:ext cx="4334256" cy="786384"/>
          </a:xfrm>
          <a:prstGeom prst="rect">
            <a:avLst/>
          </a:prstGeom>
          <a:noFill/>
          <a:ln/>
        </p:spPr>
        <p:txBody>
          <a:bodyPr wrap="square" lIns="0" tIns="0" rIns="0" bIns="0" rtlCol="0" anchor="t"/>
          <a:lstStyle/>
          <a:p>
            <a:pPr indent="0" marL="0">
              <a:lnSpc>
                <a:spcPts val="1800"/>
              </a:lnSpc>
              <a:buNone/>
            </a:pPr>
            <a:r>
              <a:rPr lang="en-US" sz="1250" dirty="0">
                <a:solidFill>
                  <a:srgbClr val="5F4534"/>
                </a:solidFill>
                <a:latin typeface="Calibri" pitchFamily="34" charset="0"/>
                <a:ea typeface="Calibri" pitchFamily="34" charset="-122"/>
                <a:cs typeface="Calibri" pitchFamily="34" charset="-120"/>
              </a:rPr>
              <a:t>No printed study packs and no photocopied past papers — material is generated on demand.</a:t>
            </a:r>
            <a:endParaRPr lang="en-US" sz="1250" dirty="0"/>
          </a:p>
        </p:txBody>
      </p:sp>
      <p:sp>
        <p:nvSpPr>
          <p:cNvPr id="19" name="Shape 17"/>
          <p:cNvSpPr/>
          <p:nvPr/>
        </p:nvSpPr>
        <p:spPr>
          <a:xfrm>
            <a:off x="6528816" y="4315968"/>
            <a:ext cx="137160" cy="137160"/>
          </a:xfrm>
          <a:prstGeom prst="ellipse">
            <a:avLst/>
          </a:prstGeom>
          <a:solidFill>
            <a:srgbClr val="5F7050"/>
          </a:solidFill>
          <a:ln/>
        </p:spPr>
      </p:sp>
      <p:sp>
        <p:nvSpPr>
          <p:cNvPr id="20" name="Text 18"/>
          <p:cNvSpPr/>
          <p:nvPr/>
        </p:nvSpPr>
        <p:spPr>
          <a:xfrm>
            <a:off x="6839712" y="4206240"/>
            <a:ext cx="4334256" cy="786384"/>
          </a:xfrm>
          <a:prstGeom prst="rect">
            <a:avLst/>
          </a:prstGeom>
          <a:noFill/>
          <a:ln/>
        </p:spPr>
        <p:txBody>
          <a:bodyPr wrap="square" lIns="0" tIns="0" rIns="0" bIns="0" rtlCol="0" anchor="t"/>
          <a:lstStyle/>
          <a:p>
            <a:pPr indent="0" marL="0">
              <a:lnSpc>
                <a:spcPts val="1800"/>
              </a:lnSpc>
              <a:buNone/>
            </a:pPr>
            <a:r>
              <a:rPr lang="en-US" sz="1250" dirty="0">
                <a:solidFill>
                  <a:srgbClr val="5F4534"/>
                </a:solidFill>
                <a:latin typeface="Calibri" pitchFamily="34" charset="0"/>
                <a:ea typeface="Calibri" pitchFamily="34" charset="-122"/>
                <a:cs typeface="Calibri" pitchFamily="34" charset="-120"/>
              </a:rPr>
              <a:t>No weekly travel to a tutoring centre, so no fuel burned to reach an explanation.</a:t>
            </a:r>
            <a:endParaRPr lang="en-US" sz="1250" dirty="0"/>
          </a:p>
        </p:txBody>
      </p:sp>
      <p:sp>
        <p:nvSpPr>
          <p:cNvPr id="21" name="Shape 19"/>
          <p:cNvSpPr/>
          <p:nvPr/>
        </p:nvSpPr>
        <p:spPr>
          <a:xfrm>
            <a:off x="6528816" y="5230368"/>
            <a:ext cx="137160" cy="137160"/>
          </a:xfrm>
          <a:prstGeom prst="ellipse">
            <a:avLst/>
          </a:prstGeom>
          <a:solidFill>
            <a:srgbClr val="5F7050"/>
          </a:solidFill>
          <a:ln/>
        </p:spPr>
      </p:sp>
      <p:sp>
        <p:nvSpPr>
          <p:cNvPr id="22" name="Text 20"/>
          <p:cNvSpPr/>
          <p:nvPr/>
        </p:nvSpPr>
        <p:spPr>
          <a:xfrm>
            <a:off x="6839712" y="5120640"/>
            <a:ext cx="4334256" cy="786384"/>
          </a:xfrm>
          <a:prstGeom prst="rect">
            <a:avLst/>
          </a:prstGeom>
          <a:noFill/>
          <a:ln/>
        </p:spPr>
        <p:txBody>
          <a:bodyPr wrap="square" lIns="0" tIns="0" rIns="0" bIns="0" rtlCol="0" anchor="t"/>
          <a:lstStyle/>
          <a:p>
            <a:pPr indent="0" marL="0">
              <a:lnSpc>
                <a:spcPts val="1800"/>
              </a:lnSpc>
              <a:buNone/>
            </a:pPr>
            <a:r>
              <a:rPr lang="en-US" sz="1250" dirty="0">
                <a:solidFill>
                  <a:srgbClr val="5F4534"/>
                </a:solidFill>
                <a:latin typeface="Calibri" pitchFamily="34" charset="0"/>
                <a:ea typeface="Calibri" pitchFamily="34" charset="-122"/>
                <a:cs typeface="Calibri" pitchFamily="34" charset="-120"/>
              </a:rPr>
              <a:t>Built light, so it runs on cheap data and the older phone a learner already owns.</a:t>
            </a:r>
            <a:endParaRPr lang="en-US" sz="1250" dirty="0"/>
          </a:p>
        </p:txBody>
      </p:sp>
    </p:spTree>
  </p:cSld>
  <p:clrMapOvr>
    <a:masterClrMapping/>
  </p:clrMapOvr>
  <mc:AlternateContent xmlns:mc="http://schemas.openxmlformats.org/markup-compatibility/2006">
    <mc:Choice xmlns:p14="http://schemas.microsoft.com/office/powerpoint/2010/main" Requires="p14">
      <p:transition spd="slow" p14:dur="800" advClick="1">
        <p:fade/>
      </p:transition>
    </mc:Choice>
    <mc:Fallback>
      <p:transition spd="slow" advClick="1">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58368" y="384048"/>
            <a:ext cx="10881360" cy="713232"/>
          </a:xfrm>
          <a:prstGeom prst="rect">
            <a:avLst/>
          </a:prstGeom>
          <a:noFill/>
          <a:ln/>
        </p:spPr>
        <p:txBody>
          <a:bodyPr wrap="square" lIns="0" tIns="0" rIns="0" bIns="0" rtlCol="0" anchor="ctr"/>
          <a:lstStyle/>
          <a:p>
            <a:pPr indent="0" marL="0">
              <a:buNone/>
            </a:pPr>
            <a:r>
              <a:rPr lang="en-US" sz="3300" b="1" dirty="0">
                <a:solidFill>
                  <a:srgbClr val="F6EBD8"/>
                </a:solidFill>
                <a:latin typeface="Bookman Old Style" pitchFamily="34" charset="0"/>
                <a:ea typeface="Bookman Old Style" pitchFamily="34" charset="-122"/>
                <a:cs typeface="Bookman Old Style" pitchFamily="34" charset="-120"/>
              </a:rPr>
              <a:t>The team, and what we are asking for</a:t>
            </a:r>
            <a:endParaRPr lang="en-US" sz="3300" dirty="0"/>
          </a:p>
        </p:txBody>
      </p:sp>
      <p:sp>
        <p:nvSpPr>
          <p:cNvPr id="3" name="Text 1"/>
          <p:cNvSpPr/>
          <p:nvPr/>
        </p:nvSpPr>
        <p:spPr>
          <a:xfrm>
            <a:off x="685800" y="1225296"/>
            <a:ext cx="2743200" cy="274320"/>
          </a:xfrm>
          <a:prstGeom prst="rect">
            <a:avLst/>
          </a:prstGeom>
          <a:noFill/>
          <a:ln/>
        </p:spPr>
        <p:txBody>
          <a:bodyPr wrap="square" lIns="0" tIns="0" rIns="0" bIns="0" rtlCol="0" anchor="t"/>
          <a:lstStyle/>
          <a:p>
            <a:pPr indent="0" marL="0">
              <a:buNone/>
            </a:pPr>
            <a:r>
              <a:rPr lang="en-US" sz="1050" b="1" spc="220" kern="0" dirty="0">
                <a:solidFill>
                  <a:srgbClr val="E08A2E"/>
                </a:solidFill>
                <a:latin typeface="Calibri" pitchFamily="34" charset="0"/>
                <a:ea typeface="Calibri" pitchFamily="34" charset="-122"/>
                <a:cs typeface="Calibri" pitchFamily="34" charset="-120"/>
              </a:rPr>
              <a:t>THE TEAM</a:t>
            </a:r>
            <a:endParaRPr lang="en-US" sz="1050" dirty="0"/>
          </a:p>
        </p:txBody>
      </p:sp>
      <p:pic>
        <p:nvPicPr>
          <p:cNvPr id="4" name="Image 0" descr="assets/founder-sq.jpg">    </p:cNvPr>
          <p:cNvPicPr>
            <a:picLocks noChangeAspect="1"/>
          </p:cNvPicPr>
          <p:nvPr/>
        </p:nvPicPr>
        <p:blipFill>
          <a:blip r:embed="rId2"/>
          <a:stretch>
            <a:fillRect/>
          </a:stretch>
        </p:blipFill>
        <p:spPr>
          <a:xfrm>
            <a:off x="658368" y="1664208"/>
            <a:ext cx="1371600" cy="1371600"/>
          </a:xfrm>
          <a:prstGeom prst="ellipse">
            <a:avLst/>
          </a:prstGeom>
        </p:spPr>
      </p:pic>
      <p:sp>
        <p:nvSpPr>
          <p:cNvPr id="5" name="Text 2"/>
          <p:cNvSpPr/>
          <p:nvPr/>
        </p:nvSpPr>
        <p:spPr>
          <a:xfrm>
            <a:off x="2194560" y="1700784"/>
            <a:ext cx="3566160" cy="329184"/>
          </a:xfrm>
          <a:prstGeom prst="rect">
            <a:avLst/>
          </a:prstGeom>
          <a:noFill/>
          <a:ln/>
        </p:spPr>
        <p:txBody>
          <a:bodyPr wrap="square" lIns="0" tIns="0" rIns="0" bIns="0" rtlCol="0" anchor="t"/>
          <a:lstStyle/>
          <a:p>
            <a:pPr indent="0" marL="0">
              <a:buNone/>
            </a:pPr>
            <a:r>
              <a:rPr lang="en-US" sz="1500" b="1" dirty="0">
                <a:solidFill>
                  <a:srgbClr val="F6EBD8"/>
                </a:solidFill>
                <a:latin typeface="Bookman Old Style" pitchFamily="34" charset="0"/>
                <a:ea typeface="Bookman Old Style" pitchFamily="34" charset="-122"/>
                <a:cs typeface="Bookman Old Style" pitchFamily="34" charset="-120"/>
              </a:rPr>
              <a:t>Mpendulo Njabulo — Founder</a:t>
            </a:r>
            <a:endParaRPr lang="en-US" sz="1500" dirty="0"/>
          </a:p>
        </p:txBody>
      </p:sp>
      <p:sp>
        <p:nvSpPr>
          <p:cNvPr id="6" name="Text 3"/>
          <p:cNvSpPr/>
          <p:nvPr/>
        </p:nvSpPr>
        <p:spPr>
          <a:xfrm>
            <a:off x="2194560" y="2066544"/>
            <a:ext cx="3529584" cy="914400"/>
          </a:xfrm>
          <a:prstGeom prst="rect">
            <a:avLst/>
          </a:prstGeom>
          <a:noFill/>
          <a:ln/>
        </p:spPr>
        <p:txBody>
          <a:bodyPr wrap="square" lIns="0" tIns="0" rIns="0" bIns="0" rtlCol="0" anchor="t"/>
          <a:lstStyle/>
          <a:p>
            <a:pPr indent="0" marL="0">
              <a:lnSpc>
                <a:spcPts val="1700"/>
              </a:lnSpc>
              <a:buNone/>
            </a:pPr>
            <a:r>
              <a:rPr lang="en-US" sz="1200" dirty="0">
                <a:solidFill>
                  <a:srgbClr val="D5BCA6"/>
                </a:solidFill>
                <a:latin typeface="Calibri" pitchFamily="34" charset="0"/>
                <a:ea typeface="Calibri" pitchFamily="34" charset="-122"/>
                <a:cs typeface="Calibri" pitchFamily="34" charset="-120"/>
              </a:rPr>
              <a:t>Builds the product and carries the mission. A Majuba TVET student who came through the same classrooms Cortex Synapse is built for.</a:t>
            </a:r>
            <a:endParaRPr lang="en-US" sz="1200" dirty="0"/>
          </a:p>
        </p:txBody>
      </p:sp>
      <p:sp>
        <p:nvSpPr>
          <p:cNvPr id="7" name="Shape 4"/>
          <p:cNvSpPr/>
          <p:nvPr/>
        </p:nvSpPr>
        <p:spPr>
          <a:xfrm>
            <a:off x="658368" y="3310128"/>
            <a:ext cx="1371600" cy="1371600"/>
          </a:xfrm>
          <a:prstGeom prst="ellipse">
            <a:avLst/>
          </a:prstGeom>
          <a:solidFill>
            <a:srgbClr val="6E3A22"/>
          </a:solidFill>
          <a:ln/>
        </p:spPr>
      </p:sp>
      <p:sp>
        <p:nvSpPr>
          <p:cNvPr id="8" name="Text 5"/>
          <p:cNvSpPr/>
          <p:nvPr/>
        </p:nvSpPr>
        <p:spPr>
          <a:xfrm>
            <a:off x="658368" y="3310128"/>
            <a:ext cx="1371600" cy="1371600"/>
          </a:xfrm>
          <a:prstGeom prst="rect">
            <a:avLst/>
          </a:prstGeom>
          <a:noFill/>
          <a:ln/>
        </p:spPr>
        <p:txBody>
          <a:bodyPr wrap="square" lIns="0" tIns="0" rIns="0" bIns="0" rtlCol="0" anchor="ctr"/>
          <a:lstStyle/>
          <a:p>
            <a:pPr algn="ctr" indent="0" marL="0">
              <a:buNone/>
            </a:pPr>
            <a:r>
              <a:rPr lang="en-US" sz="4000" b="1" dirty="0">
                <a:solidFill>
                  <a:srgbClr val="E08A2E"/>
                </a:solidFill>
                <a:latin typeface="Bookman Old Style" pitchFamily="34" charset="0"/>
                <a:ea typeface="Bookman Old Style" pitchFamily="34" charset="-122"/>
                <a:cs typeface="Bookman Old Style" pitchFamily="34" charset="-120"/>
              </a:rPr>
              <a:t>T</a:t>
            </a:r>
            <a:endParaRPr lang="en-US" sz="4000" dirty="0"/>
          </a:p>
        </p:txBody>
      </p:sp>
      <p:sp>
        <p:nvSpPr>
          <p:cNvPr id="9" name="Text 6"/>
          <p:cNvSpPr/>
          <p:nvPr/>
        </p:nvSpPr>
        <p:spPr>
          <a:xfrm>
            <a:off x="2194560" y="3401568"/>
            <a:ext cx="3566160" cy="329184"/>
          </a:xfrm>
          <a:prstGeom prst="rect">
            <a:avLst/>
          </a:prstGeom>
          <a:noFill/>
          <a:ln/>
        </p:spPr>
        <p:txBody>
          <a:bodyPr wrap="square" lIns="0" tIns="0" rIns="0" bIns="0" rtlCol="0" anchor="t"/>
          <a:lstStyle/>
          <a:p>
            <a:pPr indent="0" marL="0">
              <a:buNone/>
            </a:pPr>
            <a:r>
              <a:rPr lang="en-US" sz="1500" b="1" dirty="0">
                <a:solidFill>
                  <a:srgbClr val="F6EBD8"/>
                </a:solidFill>
                <a:latin typeface="Bookman Old Style" pitchFamily="34" charset="0"/>
                <a:ea typeface="Bookman Old Style" pitchFamily="34" charset="-122"/>
                <a:cs typeface="Bookman Old Style" pitchFamily="34" charset="-120"/>
              </a:rPr>
              <a:t>Tony — Infrastructure</a:t>
            </a:r>
            <a:endParaRPr lang="en-US" sz="1500" dirty="0"/>
          </a:p>
        </p:txBody>
      </p:sp>
      <p:sp>
        <p:nvSpPr>
          <p:cNvPr id="10" name="Text 7"/>
          <p:cNvSpPr/>
          <p:nvPr/>
        </p:nvSpPr>
        <p:spPr>
          <a:xfrm>
            <a:off x="2194560" y="3749040"/>
            <a:ext cx="3529584" cy="822960"/>
          </a:xfrm>
          <a:prstGeom prst="rect">
            <a:avLst/>
          </a:prstGeom>
          <a:noFill/>
          <a:ln/>
        </p:spPr>
        <p:txBody>
          <a:bodyPr wrap="square" lIns="0" tIns="0" rIns="0" bIns="0" rtlCol="0" anchor="t"/>
          <a:lstStyle/>
          <a:p>
            <a:pPr indent="0" marL="0">
              <a:lnSpc>
                <a:spcPts val="1700"/>
              </a:lnSpc>
              <a:buNone/>
            </a:pPr>
            <a:r>
              <a:rPr lang="en-US" sz="1200" dirty="0">
                <a:solidFill>
                  <a:srgbClr val="D5BCA6"/>
                </a:solidFill>
                <a:latin typeface="Calibri" pitchFamily="34" charset="0"/>
                <a:ea typeface="Calibri" pitchFamily="34" charset="-122"/>
                <a:cs typeface="Calibri" pitchFamily="34" charset="-120"/>
              </a:rPr>
              <a:t>Deployment, data security, and keeping the platform up and cheap to run as learner numbers grow.</a:t>
            </a:r>
            <a:endParaRPr lang="en-US" sz="1200" dirty="0"/>
          </a:p>
        </p:txBody>
      </p:sp>
      <p:sp>
        <p:nvSpPr>
          <p:cNvPr id="11" name="Text 8"/>
          <p:cNvSpPr/>
          <p:nvPr/>
        </p:nvSpPr>
        <p:spPr>
          <a:xfrm>
            <a:off x="6199632" y="1225296"/>
            <a:ext cx="2743200" cy="274320"/>
          </a:xfrm>
          <a:prstGeom prst="rect">
            <a:avLst/>
          </a:prstGeom>
          <a:noFill/>
          <a:ln/>
        </p:spPr>
        <p:txBody>
          <a:bodyPr wrap="square" lIns="0" tIns="0" rIns="0" bIns="0" rtlCol="0" anchor="t"/>
          <a:lstStyle/>
          <a:p>
            <a:pPr indent="0" marL="0">
              <a:buNone/>
            </a:pPr>
            <a:r>
              <a:rPr lang="en-US" sz="1050" b="1" spc="220" kern="0" dirty="0">
                <a:solidFill>
                  <a:srgbClr val="E08A2E"/>
                </a:solidFill>
                <a:latin typeface="Calibri" pitchFamily="34" charset="0"/>
                <a:ea typeface="Calibri" pitchFamily="34" charset="-122"/>
                <a:cs typeface="Calibri" pitchFamily="34" charset="-120"/>
              </a:rPr>
              <a:t>THE ASK</a:t>
            </a:r>
            <a:endParaRPr lang="en-US" sz="1050" dirty="0"/>
          </a:p>
        </p:txBody>
      </p:sp>
      <p:sp>
        <p:nvSpPr>
          <p:cNvPr id="12" name="Shape 9"/>
          <p:cNvSpPr/>
          <p:nvPr/>
        </p:nvSpPr>
        <p:spPr>
          <a:xfrm>
            <a:off x="6163056" y="1664208"/>
            <a:ext cx="5376672" cy="1371600"/>
          </a:xfrm>
          <a:prstGeom prst="roundRect">
            <a:avLst>
              <a:gd name="adj" fmla="val 9333"/>
            </a:avLst>
          </a:prstGeom>
          <a:solidFill>
            <a:srgbClr val="FFFFFF">
              <a:alpha val="9000"/>
            </a:srgbClr>
          </a:solidFill>
          <a:ln w="9525">
            <a:solidFill>
              <a:srgbClr val="FFFFFF">
                <a:alpha val="22000"/>
              </a:srgbClr>
            </a:solidFill>
            <a:prstDash val="solid"/>
          </a:ln>
        </p:spPr>
      </p:sp>
      <p:sp>
        <p:nvSpPr>
          <p:cNvPr id="13" name="Shape 10"/>
          <p:cNvSpPr/>
          <p:nvPr/>
        </p:nvSpPr>
        <p:spPr>
          <a:xfrm>
            <a:off x="6455664" y="2103120"/>
            <a:ext cx="493776" cy="493776"/>
          </a:xfrm>
          <a:prstGeom prst="ellipse">
            <a:avLst/>
          </a:prstGeom>
          <a:solidFill>
            <a:srgbClr val="E08A2E"/>
          </a:solidFill>
          <a:ln/>
        </p:spPr>
      </p:sp>
      <p:sp>
        <p:nvSpPr>
          <p:cNvPr id="14" name="Text 11"/>
          <p:cNvSpPr/>
          <p:nvPr/>
        </p:nvSpPr>
        <p:spPr>
          <a:xfrm>
            <a:off x="6455664" y="2103120"/>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Bookman Old Style" pitchFamily="34" charset="0"/>
                <a:ea typeface="Bookman Old Style" pitchFamily="34" charset="-122"/>
                <a:cs typeface="Bookman Old Style" pitchFamily="34" charset="-120"/>
              </a:rPr>
              <a:t>1</a:t>
            </a:r>
            <a:endParaRPr lang="en-US" sz="1500" dirty="0"/>
          </a:p>
        </p:txBody>
      </p:sp>
      <p:sp>
        <p:nvSpPr>
          <p:cNvPr id="15" name="Text 12"/>
          <p:cNvSpPr/>
          <p:nvPr/>
        </p:nvSpPr>
        <p:spPr>
          <a:xfrm>
            <a:off x="7114032" y="1883664"/>
            <a:ext cx="4206240" cy="365760"/>
          </a:xfrm>
          <a:prstGeom prst="rect">
            <a:avLst/>
          </a:prstGeom>
          <a:noFill/>
          <a:ln/>
        </p:spPr>
        <p:txBody>
          <a:bodyPr wrap="square" lIns="0" tIns="0" rIns="0" bIns="0" rtlCol="0" anchor="ctr"/>
          <a:lstStyle/>
          <a:p>
            <a:pPr indent="0" marL="0">
              <a:buNone/>
            </a:pPr>
            <a:r>
              <a:rPr lang="en-US" sz="1600" b="1" dirty="0">
                <a:solidFill>
                  <a:srgbClr val="F6EBD8"/>
                </a:solidFill>
                <a:latin typeface="Bookman Old Style" pitchFamily="34" charset="0"/>
                <a:ea typeface="Bookman Old Style" pitchFamily="34" charset="-122"/>
                <a:cs typeface="Bookman Old Style" pitchFamily="34" charset="-120"/>
              </a:rPr>
              <a:t>Funding</a:t>
            </a:r>
            <a:endParaRPr lang="en-US" sz="1600" dirty="0"/>
          </a:p>
        </p:txBody>
      </p:sp>
      <p:sp>
        <p:nvSpPr>
          <p:cNvPr id="16" name="Text 13"/>
          <p:cNvSpPr/>
          <p:nvPr/>
        </p:nvSpPr>
        <p:spPr>
          <a:xfrm>
            <a:off x="7114032" y="2267712"/>
            <a:ext cx="4206240" cy="658368"/>
          </a:xfrm>
          <a:prstGeom prst="rect">
            <a:avLst/>
          </a:prstGeom>
          <a:noFill/>
          <a:ln/>
        </p:spPr>
        <p:txBody>
          <a:bodyPr wrap="square" lIns="0" tIns="0" rIns="0" bIns="0" rtlCol="0" anchor="t"/>
          <a:lstStyle/>
          <a:p>
            <a:pPr indent="0" marL="0">
              <a:lnSpc>
                <a:spcPts val="1700"/>
              </a:lnSpc>
              <a:buNone/>
            </a:pPr>
            <a:r>
              <a:rPr lang="en-US" sz="1200" dirty="0">
                <a:solidFill>
                  <a:srgbClr val="D5BCA6"/>
                </a:solidFill>
                <a:latin typeface="Calibri" pitchFamily="34" charset="0"/>
                <a:ea typeface="Calibri" pitchFamily="34" charset="-122"/>
                <a:cs typeface="Calibri" pitchFamily="34" charset="-120"/>
              </a:rPr>
              <a:t>Seed funding to cover hosting, AI inference and support for the first year — so the free tier stays free while we prove the model.</a:t>
            </a:r>
            <a:endParaRPr lang="en-US" sz="1200" dirty="0"/>
          </a:p>
        </p:txBody>
      </p:sp>
      <p:sp>
        <p:nvSpPr>
          <p:cNvPr id="17" name="Shape 14"/>
          <p:cNvSpPr/>
          <p:nvPr/>
        </p:nvSpPr>
        <p:spPr>
          <a:xfrm>
            <a:off x="6163056" y="3255264"/>
            <a:ext cx="5376672" cy="1371600"/>
          </a:xfrm>
          <a:prstGeom prst="roundRect">
            <a:avLst>
              <a:gd name="adj" fmla="val 9333"/>
            </a:avLst>
          </a:prstGeom>
          <a:solidFill>
            <a:srgbClr val="FFFFFF">
              <a:alpha val="9000"/>
            </a:srgbClr>
          </a:solidFill>
          <a:ln w="9525">
            <a:solidFill>
              <a:srgbClr val="FFFFFF">
                <a:alpha val="22000"/>
              </a:srgbClr>
            </a:solidFill>
            <a:prstDash val="solid"/>
          </a:ln>
        </p:spPr>
      </p:sp>
      <p:sp>
        <p:nvSpPr>
          <p:cNvPr id="18" name="Shape 15"/>
          <p:cNvSpPr/>
          <p:nvPr/>
        </p:nvSpPr>
        <p:spPr>
          <a:xfrm>
            <a:off x="6455664" y="3694176"/>
            <a:ext cx="493776" cy="493776"/>
          </a:xfrm>
          <a:prstGeom prst="ellipse">
            <a:avLst/>
          </a:prstGeom>
          <a:solidFill>
            <a:srgbClr val="E08A2E"/>
          </a:solidFill>
          <a:ln/>
        </p:spPr>
      </p:sp>
      <p:sp>
        <p:nvSpPr>
          <p:cNvPr id="19" name="Text 16"/>
          <p:cNvSpPr/>
          <p:nvPr/>
        </p:nvSpPr>
        <p:spPr>
          <a:xfrm>
            <a:off x="6455664" y="3694176"/>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Bookman Old Style" pitchFamily="34" charset="0"/>
                <a:ea typeface="Bookman Old Style" pitchFamily="34" charset="-122"/>
                <a:cs typeface="Bookman Old Style" pitchFamily="34" charset="-120"/>
              </a:rPr>
              <a:t>2</a:t>
            </a:r>
            <a:endParaRPr lang="en-US" sz="1500" dirty="0"/>
          </a:p>
        </p:txBody>
      </p:sp>
      <p:sp>
        <p:nvSpPr>
          <p:cNvPr id="20" name="Text 17"/>
          <p:cNvSpPr/>
          <p:nvPr/>
        </p:nvSpPr>
        <p:spPr>
          <a:xfrm>
            <a:off x="7114032" y="3474720"/>
            <a:ext cx="4206240" cy="365760"/>
          </a:xfrm>
          <a:prstGeom prst="rect">
            <a:avLst/>
          </a:prstGeom>
          <a:noFill/>
          <a:ln/>
        </p:spPr>
        <p:txBody>
          <a:bodyPr wrap="square" lIns="0" tIns="0" rIns="0" bIns="0" rtlCol="0" anchor="ctr"/>
          <a:lstStyle/>
          <a:p>
            <a:pPr indent="0" marL="0">
              <a:buNone/>
            </a:pPr>
            <a:r>
              <a:rPr lang="en-US" sz="1600" b="1" dirty="0">
                <a:solidFill>
                  <a:srgbClr val="F6EBD8"/>
                </a:solidFill>
                <a:latin typeface="Bookman Old Style" pitchFamily="34" charset="0"/>
                <a:ea typeface="Bookman Old Style" pitchFamily="34" charset="-122"/>
                <a:cs typeface="Bookman Old Style" pitchFamily="34" charset="-120"/>
              </a:rPr>
              <a:t>School pilot access</a:t>
            </a:r>
            <a:endParaRPr lang="en-US" sz="1600" dirty="0"/>
          </a:p>
        </p:txBody>
      </p:sp>
      <p:sp>
        <p:nvSpPr>
          <p:cNvPr id="21" name="Text 18"/>
          <p:cNvSpPr/>
          <p:nvPr/>
        </p:nvSpPr>
        <p:spPr>
          <a:xfrm>
            <a:off x="7114032" y="3858768"/>
            <a:ext cx="4206240" cy="658368"/>
          </a:xfrm>
          <a:prstGeom prst="rect">
            <a:avLst/>
          </a:prstGeom>
          <a:noFill/>
          <a:ln/>
        </p:spPr>
        <p:txBody>
          <a:bodyPr wrap="square" lIns="0" tIns="0" rIns="0" bIns="0" rtlCol="0" anchor="t"/>
          <a:lstStyle/>
          <a:p>
            <a:pPr indent="0" marL="0">
              <a:lnSpc>
                <a:spcPts val="1700"/>
              </a:lnSpc>
              <a:buNone/>
            </a:pPr>
            <a:r>
              <a:rPr lang="en-US" sz="1200" dirty="0">
                <a:solidFill>
                  <a:srgbClr val="D5BCA6"/>
                </a:solidFill>
                <a:latin typeface="Calibri" pitchFamily="34" charset="0"/>
                <a:ea typeface="Calibri" pitchFamily="34" charset="-122"/>
                <a:cs typeface="Calibri" pitchFamily="34" charset="-120"/>
              </a:rPr>
              <a:t>Introductions to run a term-long pilot at Majuba TVET and two local high schools, with pass rates and topic mastery measured before and after.</a:t>
            </a:r>
            <a:endParaRPr lang="en-US" sz="1200" dirty="0"/>
          </a:p>
        </p:txBody>
      </p:sp>
      <p:sp>
        <p:nvSpPr>
          <p:cNvPr id="22" name="Text 19"/>
          <p:cNvSpPr/>
          <p:nvPr/>
        </p:nvSpPr>
        <p:spPr>
          <a:xfrm>
            <a:off x="822960" y="5029200"/>
            <a:ext cx="10607040" cy="1005840"/>
          </a:xfrm>
          <a:prstGeom prst="rect">
            <a:avLst/>
          </a:prstGeom>
          <a:noFill/>
          <a:ln/>
        </p:spPr>
        <p:txBody>
          <a:bodyPr wrap="square" lIns="0" tIns="0" rIns="0" bIns="0" rtlCol="0" anchor="ctr"/>
          <a:lstStyle/>
          <a:p>
            <a:pPr algn="ctr" indent="0" marL="0">
              <a:lnSpc>
                <a:spcPts val="3000"/>
              </a:lnSpc>
              <a:buNone/>
            </a:pPr>
            <a:r>
              <a:rPr lang="en-US" sz="2100" b="1" i="1" dirty="0">
                <a:solidFill>
                  <a:srgbClr val="E08A2E"/>
                </a:solidFill>
                <a:latin typeface="Bookman Old Style" pitchFamily="34" charset="0"/>
                <a:ea typeface="Bookman Old Style" pitchFamily="34" charset="-122"/>
                <a:cs typeface="Bookman Old Style" pitchFamily="34" charset="-120"/>
              </a:rPr>
              <a:t>“The goal is not the pass mark. The goal is a learner who understands, and is not afraid to write.”</a:t>
            </a:r>
            <a:endParaRPr lang="en-US" sz="2100" dirty="0"/>
          </a:p>
        </p:txBody>
      </p:sp>
      <p:sp>
        <p:nvSpPr>
          <p:cNvPr id="23" name="Text 20"/>
          <p:cNvSpPr/>
          <p:nvPr/>
        </p:nvSpPr>
        <p:spPr>
          <a:xfrm>
            <a:off x="822960" y="6053328"/>
            <a:ext cx="10607040" cy="365760"/>
          </a:xfrm>
          <a:prstGeom prst="rect">
            <a:avLst/>
          </a:prstGeom>
          <a:noFill/>
          <a:ln/>
        </p:spPr>
        <p:txBody>
          <a:bodyPr wrap="square" lIns="0" tIns="0" rIns="0" bIns="0" rtlCol="0" anchor="t"/>
          <a:lstStyle/>
          <a:p>
            <a:pPr algn="ctr" indent="0" marL="0">
              <a:buNone/>
            </a:pPr>
            <a:r>
              <a:rPr lang="en-US" sz="1350" dirty="0">
                <a:solidFill>
                  <a:srgbClr val="D5BCA6"/>
                </a:solidFill>
                <a:latin typeface="Calibri" pitchFamily="34" charset="0"/>
                <a:ea typeface="Calibri" pitchFamily="34" charset="-122"/>
                <a:cs typeface="Calibri" pitchFamily="34" charset="-120"/>
              </a:rPr>
              <a:t>Give us one campus and one term, and we will bring you the marks.</a:t>
            </a:r>
            <a:endParaRPr lang="en-US" sz="1350" dirty="0"/>
          </a:p>
        </p:txBody>
      </p:sp>
    </p:spTree>
  </p:cSld>
  <p:clrMapOvr>
    <a:masterClrMapping/>
  </p:clrMapOvr>
  <mc:AlternateContent xmlns:mc="http://schemas.openxmlformats.org/markup-compatibility/2006">
    <mc:Choice xmlns:p14="http://schemas.microsoft.com/office/powerpoint/2010/main" Requires="p14">
      <p:transition spd="slow" p14:dur="800" advClick="1">
        <p:fade/>
      </p:transition>
    </mc:Choice>
    <mc:Fallback>
      <p:transition spd="slow" advClick="1">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Cortex Synapse — Inspire InterCollege pitch</dc:title>
  <dc:subject>PptxGenJS Presentation</dc:subject>
  <dc:creator>Cortex Synapse</dc:creator>
  <cp:lastModifiedBy>Cortex Synapse</cp:lastModifiedBy>
  <cp:revision>1</cp:revision>
  <dcterms:created xsi:type="dcterms:W3CDTF">2026-07-29T01:57:34Z</dcterms:created>
  <dcterms:modified xsi:type="dcterms:W3CDTF">2026-07-29T01:57:34Z</dcterms:modified>
</cp:coreProperties>
</file>